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</p:sldMasterIdLst>
  <p:notesMasterIdLst>
    <p:notesMasterId r:id="rId8"/>
  </p:notesMasterIdLst>
  <p:sldIdLst>
    <p:sldId id="257" r:id="rId7"/>
    <p:sldId id="513" r:id="rId41"/>
    <p:sldId id="514" r:id="rId42"/>
    <p:sldId id="515" r:id="rId43"/>
    <p:sldId id="516" r:id="rId44"/>
    <p:sldId id="517" r:id="rId45"/>
    <p:sldId id="518" r:id="rId46"/>
    <p:sldId id="520" r:id="rId48"/>
    <p:sldId id="519" r:id="rId47"/>
    <p:sldId id="50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95E7F"/>
    <a:srgbClr val="325B7F"/>
    <a:srgbClr val="335C80"/>
    <a:srgbClr val="3B5F80"/>
    <a:srgbClr val="385D7F"/>
    <a:srgbClr val="235480"/>
    <a:srgbClr val="FFFFFF"/>
    <a:srgbClr val="255580"/>
    <a:srgbClr val="0E4A80"/>
    <a:srgbClr val="BD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24" y="48"/>
      </p:cViewPr>
      <p:guideLst>
        <p:guide orient="horz" pos="2160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7" Type="http://schemas.openxmlformats.org/officeDocument/2006/relationships/slide" Target="slides/slide10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ableStyles" Target="tableStyles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9.xml"/><Relationship Id="rId4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7106C-D5AE-420C-BEF8-088D4D6B83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163286" y="179614"/>
            <a:ext cx="11846379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163286" y="179614"/>
            <a:ext cx="11846379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163286" y="179614"/>
            <a:ext cx="11846379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163286" y="179614"/>
            <a:ext cx="11846379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163286" y="179614"/>
            <a:ext cx="11846379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3765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3765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3765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3765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3765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3765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3765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3765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3765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3765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Relationship Id="rId1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Relationship Id="rId16" Type="http://schemas.microsoft.com/office/2007/relationships/media" Target="../media/media1.mp4"/><Relationship Id="rId17" Type="http://schemas.openxmlformats.org/officeDocument/2006/relationships/video" Target="../media/media1.mp4"/><Relationship Id="rId18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image" Target="../media/image6.png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182002" y="2728000"/>
            <a:ext cx="11827994" cy="1170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5400">
                <a:solidFill>
                  <a:srgbClr val="25558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defRPr>
            </a:lvl1pPr>
          </a:lstStyle>
          <a:p>
            <a:r>
              <a:rPr lang="zh-CN" altLang="en-US" dirty="0" sz="3400">
                <a:solidFill>
                  <a:srgbClr val="3B5F80"/>
                </a:solidFill>
              </a:rPr>
              <a:t>基于 MuJoCo 与 ROS 2 的 Go1 车间通道通行</a:t>
            </a:r>
          </a:p>
        </p:txBody>
      </p:sp>
      <p:sp>
        <p:nvSpPr>
          <p:cNvPr id="8" name="PA_文本框 2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4988523" y="4894464"/>
            <a:ext cx="22148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指导老师：莫凡</a:t>
            </a:r>
          </a:p>
        </p:txBody>
      </p:sp>
      <p:sp>
        <p:nvSpPr>
          <p:cNvPr id="9" name="PA_文本框 2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3"/>
            </p:custDataLst>
          </p:nvPr>
        </p:nvSpPr>
        <p:spPr>
          <a:xfrm>
            <a:off x="2898648" y="5382260"/>
            <a:ext cx="6400800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 辩 人 ：教晔廷  臧文韬  牛麒皓  张欣  苏奕婷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3816544" y="4305569"/>
            <a:ext cx="5250889" cy="382068"/>
            <a:chOff x="3548596" y="4873761"/>
            <a:chExt cx="5250889" cy="382068"/>
          </a:xfrm>
        </p:grpSpPr>
        <p:sp>
          <p:nvSpPr>
            <p:cNvPr id="5" name="PA_任意多边形 3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  <p:cNvSpPr/>
            <p:nvPr>
              <p:custDataLst>
                <p:tags r:id="rId4"/>
              </p:custDataLst>
            </p:nvPr>
          </p:nvSpPr>
          <p:spPr>
            <a:xfrm>
              <a:off x="3548596" y="5059717"/>
              <a:ext cx="1129553" cy="0"/>
            </a:xfrm>
            <a:custGeom>
              <a:avLst/>
              <a:gdLst>
                <a:gd name="connsiteX0" fmla="*/ 1129553 w 1129553"/>
                <a:gd name="connsiteY0" fmla="*/ 0 h 0"/>
                <a:gd name="connsiteX1" fmla="*/ 0 w 112955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9553">
                  <a:moveTo>
                    <a:pt x="1129553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325B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220F"/>
                </a:solidFill>
                <a:latin typeface="Tw Cen MT" panose="020B06020201040206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PA_任意多边形 3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  <p:cNvSpPr/>
            <p:nvPr>
              <p:custDataLst>
                <p:tags r:id="rId5"/>
              </p:custDataLst>
            </p:nvPr>
          </p:nvSpPr>
          <p:spPr>
            <a:xfrm>
              <a:off x="7669932" y="5059717"/>
              <a:ext cx="1129553" cy="0"/>
            </a:xfrm>
            <a:custGeom>
              <a:avLst/>
              <a:gdLst>
                <a:gd name="connsiteX0" fmla="*/ 1129553 w 1129553"/>
                <a:gd name="connsiteY0" fmla="*/ 0 h 0"/>
                <a:gd name="connsiteX1" fmla="*/ 0 w 112955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9553">
                  <a:moveTo>
                    <a:pt x="1129553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325B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220F"/>
                </a:solidFill>
                <a:latin typeface="Tw Cen MT" panose="020B06020201040206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4314713" y="4873761"/>
              <a:ext cx="3401042" cy="382068"/>
            </a:xfrm>
            <a:prstGeom prst="roundRect">
              <a:avLst>
                <a:gd name="adj" fmla="val 32163"/>
              </a:avLst>
            </a:prstGeom>
            <a:solidFill>
              <a:srgbClr val="335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w Cen MT" panose="020B0602020104020603" pitchFamily="34" charset="0"/>
                  <a:ea typeface="微软雅黑" panose="020B0503020204020204" pitchFamily="34" charset="-122"/>
                </a:rPr>
                <a:t>第一组 · B2 车间通道通行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869" y="842574"/>
            <a:ext cx="1622260" cy="16143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工业场景与任务：B2 车间通道通行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pic>
        <p:nvPicPr>
          <p:cNvPr id="21" name="Picture 20" descr="go1_factory_overvie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928" y="1097280"/>
            <a:ext cx="5577840" cy="313753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66928" y="4509134"/>
            <a:ext cx="1737359" cy="105156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4582287"/>
            <a:ext cx="173735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984623"/>
            <a:ext cx="173735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目标点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509134"/>
            <a:ext cx="1737359" cy="105156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487168" y="4582287"/>
            <a:ext cx="173735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984623"/>
            <a:ext cx="173735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通行 + 绕障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7" y="4509134"/>
            <a:ext cx="1737359" cy="105156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07407" y="4582287"/>
            <a:ext cx="173735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7" y="4984623"/>
            <a:ext cx="173735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是否到达终点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645920"/>
            <a:ext cx="39319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B2 要求完成情况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2240279"/>
            <a:ext cx="384048" cy="384048"/>
          </a:xfrm>
          <a:prstGeom prst="ellipse">
            <a:avLst/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194560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起点到达目标点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194560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约 49.5 m 迷宫路线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2916935"/>
            <a:ext cx="384048" cy="384048"/>
          </a:xfrm>
          <a:prstGeom prst="ellipse">
            <a:avLst/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871215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遇障停车或绕行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871215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自动绕开 6 处临时障碍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3593591"/>
            <a:ext cx="384048" cy="384048"/>
          </a:xfrm>
          <a:prstGeom prst="ellipse">
            <a:avLst/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547872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距离感知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547872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2D 激光雷达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270248"/>
            <a:ext cx="384048" cy="384048"/>
          </a:xfrm>
          <a:prstGeom prst="ellipse">
            <a:avLst/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224528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速度 / 导航指令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224528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Nav2 → 机器人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4946904"/>
            <a:ext cx="384048" cy="384048"/>
          </a:xfrm>
          <a:prstGeom prst="ellipse">
            <a:avLst/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901184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到达状态反馈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901184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任务进度话题</a:t>
            </a:r>
          </a:p>
        </p:txBody>
      </p:sp>
      <p:sp>
        <p:nvSpPr>
          <p:cNvPr id="47" name="Oval 46"/>
          <p:cNvSpPr/>
          <p:nvPr/>
        </p:nvSpPr>
        <p:spPr>
          <a:xfrm>
            <a:off x="6537960" y="5623560"/>
            <a:ext cx="384048" cy="384048"/>
          </a:xfrm>
          <a:prstGeom prst="ellipse">
            <a:avLst/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577840"/>
            <a:ext cx="21945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拓展：重新规划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577840"/>
            <a:ext cx="2331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发现障碍后重算路径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技术选型：MuJoCo + Unitree Go1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178308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5528" y="2011680"/>
            <a:ext cx="3383279" cy="45720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仿真平台：MuJoCo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697480"/>
            <a:ext cx="4846320" cy="1965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策略在 MuJoCo 中训练，同引擎部署才稳定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早期 Gazebo 方案限速仅 0.5 m/s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Python 直接生成工厂和地图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78308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28232" y="2011680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机器人：Unitree Go1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697480"/>
            <a:ext cx="4846320" cy="1965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有现成训练好的行走策略，不用从零训练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官方高质量模型（MuJoCo Menagerie）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标准 ROS 接口，以后方便迁移实机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20640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步态策略对物理引擎很敏感，训练用什么引擎，部署就必须用什么引擎。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系统架构：四层闭环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1600200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5528" y="182880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导航层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46888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Nav2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880360"/>
            <a:ext cx="23957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定位、路径规划、避障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26664" y="2468880"/>
            <a:ext cx="283464" cy="347472"/>
          </a:xfrm>
          <a:prstGeom prst="rightArrow">
            <a:avLst/>
          </a:prstGeom>
          <a:solidFill>
            <a:srgbClr val="325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0200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02736" y="182880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246888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workshop_runtime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2880360"/>
            <a:ext cx="23957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看门狗、急停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33872" y="2468880"/>
            <a:ext cx="283464" cy="347472"/>
          </a:xfrm>
          <a:prstGeom prst="rightArrow">
            <a:avLst/>
          </a:prstGeom>
          <a:solidFill>
            <a:srgbClr val="325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81344" y="1600200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409944" y="182880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运动层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246888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go1_locomotion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2880360"/>
            <a:ext cx="23957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RL 策略生成步态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641080" y="2468880"/>
            <a:ext cx="283464" cy="347472"/>
          </a:xfrm>
          <a:prstGeom prst="rightArrow">
            <a:avLst/>
          </a:prstGeom>
          <a:solidFill>
            <a:srgbClr val="325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88552" y="1600200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217152" y="182880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246888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MuJoCo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2880360"/>
            <a:ext cx="23957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物理仿真、激光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566928" y="4251960"/>
            <a:ext cx="502920" cy="457200"/>
          </a:xfrm>
          <a:prstGeom prst="lef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15568" y="4251960"/>
            <a:ext cx="10479024" cy="4572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反馈：里程计 /odom、激光 /scan、坐标 /tf 回到导航层，形成闭环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29200"/>
            <a:ext cx="11027664" cy="123444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任务输入：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goal.py 自动发送目标，或在 RViz 中点选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离线准备：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脚本生成工厂场景，再由同一场景生成导航地图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67328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橙色 = 本组编写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ROS 通信关系与模块说明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4359" y="13167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DCE7F4"/>
          </a:solidFill>
          <a:ln w="19050">
            <a:solidFill>
              <a:srgbClr val="325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59" y="13716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map_server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" y="1700784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地图服务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13167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DCE7F4"/>
          </a:solidFill>
          <a:ln w="19050">
            <a:solidFill>
              <a:srgbClr val="325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108960" y="13716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amcl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1700784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激光定位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3167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19050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23560" y="13716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goal.py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1700784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任务下发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59" y="31455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19050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59" y="32004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go1_locomotion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59" y="3529584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机器狗仿真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31455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DCE7F4"/>
          </a:solidFill>
          <a:ln w="19050">
            <a:solidFill>
              <a:srgbClr val="325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23560" y="32004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Nav2 规划控制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3529584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全局 + 局部规划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59" y="49743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19050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59" y="5029199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workshop_runtime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59" y="5358383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看门狗 / 急停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49743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DCE7F4"/>
          </a:solidFill>
          <a:ln w="19050">
            <a:solidFill>
              <a:srgbClr val="325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108960" y="5029199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collision_monitor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58383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碰撞预判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497433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DCE7F4"/>
          </a:solidFill>
          <a:ln w="19050">
            <a:solidFill>
              <a:srgbClr val="325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623560" y="5029199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velocity_smoother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5358383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速度平滑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14600" y="1691640"/>
            <a:ext cx="594360" cy="0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943100" y="136245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/map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84573" y="2066544"/>
            <a:ext cx="1483614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03420" y="218541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/tf 位姿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0" y="2066544"/>
            <a:ext cx="0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647688" y="2313432"/>
            <a:ext cx="1005840" cy="5852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/navigate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_to_pose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14600" y="3520440"/>
            <a:ext cx="3108960" cy="0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49039" y="319125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/odom  /scan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069973" y="2066544"/>
            <a:ext cx="1483614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531620" y="2350008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/scan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069973" y="3895344"/>
            <a:ext cx="1483614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903220" y="4105655"/>
            <a:ext cx="7315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/scan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83680" y="3895344"/>
            <a:ext cx="0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92240" y="428853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/cmd_vel_nav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5029200" y="5349240"/>
            <a:ext cx="594360" cy="0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457700" y="465429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/cmd_vel_smoothed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2514600" y="5349240"/>
            <a:ext cx="594360" cy="0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943100" y="4654296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/cmd_vel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1143000" y="3895344"/>
            <a:ext cx="0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11480" y="4288536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/cmd_vel_safe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65960" y="3895344"/>
            <a:ext cx="0" cy="1078992"/>
          </a:xfrm>
          <a:prstGeom prst="line">
            <a:avLst/>
          </a:prstGeom>
          <a:ln w="22225">
            <a:solidFill>
              <a:srgbClr val="325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947672" y="4425696"/>
            <a:ext cx="7315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/odom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925312"/>
            <a:ext cx="7132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橙色框</a:t>
            </a: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：本组节点   </a:t>
            </a:r>
            <a:r>
              <a:rPr sz="11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蓝色框</a:t>
            </a: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：Nav2 节点   箭头上为话题，省略了 /rosout 等辅助话题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1000" y="1691640"/>
            <a:ext cx="3593591" cy="45720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183879" y="1828800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go1_locomotion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2112264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执行速度指令，发布里程计和激光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79" y="2450592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workshop_runtime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83879" y="2734056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超时自动停车、急停，最后一道安全关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3879" y="3072384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goal.py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83879" y="3355848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发送目标点，反馈是否到达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79" y="3694176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map_server / amcl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3977639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加载地图，用激光确定自身位置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83879" y="4315968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Nav2 规划控制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83879" y="4599431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算全局路线，实时生成避障速度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4937759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velocity_smoother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83879" y="5221223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限制加速度，让速度变化平稳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79" y="5559551"/>
            <a:ext cx="3273551" cy="301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collision_monitor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83879" y="5843015"/>
            <a:ext cx="3273551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预判 1.2 s 内的碰撞并减速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核心实现：自己完成的部分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1783080"/>
            <a:ext cx="6309360" cy="35204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5528" y="20116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697480"/>
            <a:ext cx="576072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工厂场景与地图自动生成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机器人模型一致性验证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看门狗与急停节点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任务下发与进度反馈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启动守护节点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Nav2 参数调优与测试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4032" y="1783080"/>
            <a:ext cx="4480560" cy="35204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342632" y="20116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复用开源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2697480"/>
            <a:ext cx="393192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Go1 模型（MuJoCo Menagerie）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Go1 行走策略与运动节点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Nav2 导航栈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MuJoCo、ROS 2 Jazzy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86400"/>
            <a:ext cx="11027664" cy="77724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难点：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改造场景时不能动机器人。我们让同一策略在新旧模型里各走一遍，轨迹完全一致才算通过。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演示结果、问题与改进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1097280"/>
            <a:ext cx="2343150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6928" y="1170432"/>
            <a:ext cx="234315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920240"/>
            <a:ext cx="234315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完整运行均到达终点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2958" y="1097280"/>
            <a:ext cx="2343150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092958" y="1170432"/>
            <a:ext cx="234315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44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2958" y="1920240"/>
            <a:ext cx="234315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最快用时，路线约 49.5 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18988" y="1097280"/>
            <a:ext cx="2343150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18988" y="1170432"/>
            <a:ext cx="234315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1.29 m/s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8988" y="1920240"/>
            <a:ext cx="234315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最高速度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5018" y="1097280"/>
            <a:ext cx="2343150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45018" y="1170432"/>
            <a:ext cx="234315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5018" y="1920240"/>
            <a:ext cx="234315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摔倒次数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743200"/>
            <a:ext cx="5422392" cy="35204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95528" y="297180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遇到的问题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3657600"/>
            <a:ext cx="4873752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迷宫转弯太窄会卡住 → 通道放宽到 3 m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启动偶尔卡住 → 加启动守护节点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离障碍太近 → 加快代价地图刷新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743200"/>
            <a:ext cx="5422392" cy="35204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00800" y="297180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后续改进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600"/>
            <a:ext cx="4873752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增加“遇障”状态反馈与停车演示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台阶区域（需地形感知策略）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700" b="1">
                <a:solidFill>
                  <a:srgbClr val="C96A1B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动态障碍：移动的叉车和行人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演示视频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pic>
        <p:nvPicPr>
          <p:cNvPr id="21" name="demo_small.mp4">
            <a:hlinkClick r:id="" action="ppaction://media"/>
          </p:cNvPr>
          <p:cNvPicPr>
            <a:picLocks noChangeAspect="1"/>
          </p:cNvPicPr>
          <p:nvPr>
            <a:videoFile r:link="rId17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432407" y="1143000"/>
            <a:ext cx="8595360" cy="48348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2407" y="6051042"/>
            <a:ext cx="8595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起点出发 → 主通道绕过托盘和锥桶 → 迷宫连续掉头 → 到达终点（1 分 54 秒，点击播放）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934720" y="321945"/>
            <a:ext cx="9509760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6565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成员分工与开源资料来源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51502" y="346319"/>
            <a:ext cx="467216" cy="468245"/>
            <a:chOff x="3437020" y="2074814"/>
            <a:chExt cx="863676" cy="865577"/>
          </a:xfrm>
        </p:grpSpPr>
        <p:sp>
          <p:nvSpPr>
            <p:cNvPr id="10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6565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1097280"/>
          <a:ext cx="5852160" cy="3401568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1051560"/>
                <a:gridCol w="32004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73152" marR="73152" marT="27432" marB="27432" anchor="ctr">
                    <a:solidFill>
                      <a:srgbClr val="2555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</a:t>
                      </a:r>
                    </a:p>
                  </a:txBody>
                  <a:tcPr marL="73152" marR="73152" marT="27432" marB="27432" anchor="ctr">
                    <a:solidFill>
                      <a:srgbClr val="2555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负责内容</a:t>
                      </a:r>
                    </a:p>
                  </a:txBody>
                  <a:tcPr marL="73152" marR="73152" marT="27432" marB="27432" anchor="ctr">
                    <a:solidFill>
                      <a:srgbClr val="25558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仿真与平台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教晔廷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工厂场景、启动配置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动作与执行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臧文韬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运动节点、Nav2 调参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感知与交互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牛麒皓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激光、代价地图、地图生成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任务与记录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张欣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任务流程、看门狗与急停</a:t>
                      </a:r>
                    </a:p>
                  </a:txBody>
                  <a:tcPr marL="73152" marR="73152" marT="27432" marB="27432" anchor="ctr">
                    <a:solidFill>
                      <a:srgbClr val="F3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 集成与测试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苏奕婷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联调测试、视频与文档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45537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第一组：</a:t>
            </a:r>
            <a:r>
              <a:rPr sz="13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教晔廷、臧文韬、牛麒皓、张欣、苏奕婷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691640"/>
            <a:ext cx="4919472" cy="278892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C5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25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06040"/>
            <a:ext cx="4370832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Go1 模型：MuJoCo Menagerie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Go1 行走策略与运动节点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ROS 2 Jazzy、Nav2、MuJoCo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83480"/>
            <a:ext cx="11027664" cy="128016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029200"/>
            <a:ext cx="10607040" cy="11887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代码仓库：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github.com/richardzang2006-svg/go1-b2-navigation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55580"/>
                </a:solidFill>
                <a:latin typeface="微软雅黑"/>
                <a:ea typeface="微软雅黑"/>
                <a:cs typeface="微软雅黑"/>
              </a:rPr>
              <a:t>启动演示：</a:t>
            </a:r>
            <a:r>
              <a:rPr sz="16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./scripts/start_demo.sh（完整说明见 README）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182002" y="2469555"/>
            <a:ext cx="11827994" cy="149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5400">
                <a:solidFill>
                  <a:srgbClr val="25558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defRPr>
            </a:lvl1pPr>
          </a:lstStyle>
          <a:p>
            <a:r>
              <a:rPr lang="zh-CN" altLang="en-US" sz="7200" dirty="0">
                <a:solidFill>
                  <a:srgbClr val="3B5F80"/>
                </a:solidFill>
              </a:rPr>
              <a:t>谢谢大家，欢迎提问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78" y="256366"/>
            <a:ext cx="1312291" cy="130585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PA" val="v3.2.0"/>
</p:tagLst>
</file>

<file path=ppt/tags/tag4.xml><?xml version="1.0" encoding="utf-8"?>
<p:tagLst xmlns:p="http://schemas.openxmlformats.org/presentationml/2006/main">
  <p:tag name="PA" val="v3.2.0"/>
</p:tagLst>
</file>

<file path=ppt/tags/tag5.xml><?xml version="1.0" encoding="utf-8"?>
<p:tagLst xmlns:p="http://schemas.openxmlformats.org/presentationml/2006/main">
  <p:tag name="PA" val="v3.2.0"/>
</p:tagLst>
</file>

<file path=ppt/tags/tag6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7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8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9.xml><?xml version="1.0" encoding="utf-8"?>
<p:tagLst xmlns:p="http://schemas.openxmlformats.org/presentationml/2006/main">
  <p:tag name="KSO_WM_DIAGRAM_VIRTUALLY_FRAME" val="{&quot;height&quot;:310.55,&quot;left&quot;:94.25000000000009,&quot;top&quot;:92.85,&quot;width&quot;:691.4161015095161}"/>
</p:tagLst>
</file>

<file path=ppt/tags/tag10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1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2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3.xml><?xml version="1.0" encoding="utf-8"?>
<p:tagLst xmlns:p="http://schemas.openxmlformats.org/presentationml/2006/main">
  <p:tag name="KSO_WM_DIAGRAM_VIRTUALLY_FRAME" val="{&quot;height&quot;:310.55,&quot;left&quot;:94.25000000000009,&quot;top&quot;:92.85,&quot;width&quot;:691.4161015095161}"/>
</p:tagLst>
</file>

<file path=ppt/tags/tag14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5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6.xml><?xml version="1.0" encoding="utf-8"?>
<p:tagLst xmlns:p="http://schemas.openxmlformats.org/presentationml/2006/main">
  <p:tag name="KSO_WM_DIAGRAM_VIRTUALLY_FRAME" val="{&quot;height&quot;:310.55,&quot;left&quot;:83.25000000000011,&quot;top&quot;:92.85,&quot;width&quot;:805.297559055118}"/>
</p:tagLst>
</file>

<file path=ppt/tags/tag17.xml><?xml version="1.0" encoding="utf-8"?>
<p:tagLst xmlns:p="http://schemas.openxmlformats.org/presentationml/2006/main">
  <p:tag name="KSO_WM_DIAGRAM_VIRTUALLY_FRAME" val="{&quot;height&quot;:310.55,&quot;left&quot;:94.25000000000009,&quot;top&quot;:92.85,&quot;width&quot;:691.4161015095161}"/>
</p:tagLst>
</file>

<file path=ppt/tags/tag23.xml><?xml version="1.0" encoding="utf-8"?>
<p:tagLst xmlns:p="http://schemas.openxmlformats.org/presentationml/2006/main">
  <p:tag name="PA" val="v3.2.0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3755</Words>
  <Application>WPS 演示</Application>
  <PresentationFormat>宽屏</PresentationFormat>
  <Paragraphs>433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Arial</vt:lpstr>
      <vt:lpstr>迷你简菱心</vt:lpstr>
      <vt:lpstr>Tw Cen MT</vt:lpstr>
      <vt:lpstr>Calibri</vt:lpstr>
      <vt:lpstr>Arial Unicode MS</vt:lpstr>
      <vt:lpstr>等线</vt:lpstr>
      <vt:lpstr>迷你简菱心</vt:lpstr>
      <vt:lpstr>Segoe Print</vt:lpstr>
      <vt:lpstr>Noto Sans SC</vt:lpstr>
      <vt:lpstr>方正姚体</vt:lpstr>
      <vt:lpstr>Calibri</vt:lpstr>
      <vt:lpstr>黑体</vt:lpstr>
      <vt:lpstr>Swiss911 UCm BT</vt:lpstr>
      <vt:lpstr>A000120140530A99PPBG</vt:lpstr>
      <vt:lpstr>1_A000120140530A99PPBG</vt:lpstr>
      <vt:lpstr>2_A000120140530A99PPBG</vt:lpstr>
      <vt:lpstr>3_A000120140530A99PPBG</vt:lpstr>
      <vt:lpstr>4_A000120140530A99PPBG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1</cp:lastModifiedBy>
  <cp:revision>54</cp:revision>
  <dcterms:created xsi:type="dcterms:W3CDTF">2019-08-14T01:23:00Z</dcterms:created>
  <dcterms:modified xsi:type="dcterms:W3CDTF">2026-04-20T05:05:08Z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140E9D58D5F1484AA16DFEE731E2F7A6_13</vt:lpwstr>
  </property>
</Properties>
</file>