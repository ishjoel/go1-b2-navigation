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  <p:sldMasterId id="2147483670" r:id="rId4"/>
    <p:sldMasterId id="2147483681" r:id="rId5"/>
    <p:sldMasterId id="2147483692" r:id="rId6"/>
  </p:sldMasterIdLst>
  <p:notesMasterIdLst>
    <p:notesMasterId r:id="rId8"/>
  </p:notesMasterIdLst>
  <p:sldIdLst>
    <p:sldId id="257" r:id="rId7"/>
    <p:sldId id="513" r:id="rId41"/>
    <p:sldId id="514" r:id="rId42"/>
    <p:sldId id="515" r:id="rId43"/>
    <p:sldId id="516" r:id="rId44"/>
    <p:sldId id="517" r:id="rId45"/>
    <p:sldId id="518" r:id="rId46"/>
    <p:sldId id="520" r:id="rId48"/>
    <p:sldId id="519" r:id="rId47"/>
    <p:sldId id="500" r:id="rId3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395E7F"/>
    <a:srgbClr val="325B7F"/>
    <a:srgbClr val="335C80"/>
    <a:srgbClr val="3B5F80"/>
    <a:srgbClr val="385D7F"/>
    <a:srgbClr val="235480"/>
    <a:srgbClr val="FFFFFF"/>
    <a:srgbClr val="255580"/>
    <a:srgbClr val="0E4A80"/>
    <a:srgbClr val="BDDC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9" autoAdjust="0"/>
    <p:restoredTop sz="94660"/>
  </p:normalViewPr>
  <p:slideViewPr>
    <p:cSldViewPr snapToGrid="0" showGuides="1">
      <p:cViewPr varScale="1">
        <p:scale>
          <a:sx n="72" d="100"/>
          <a:sy n="72" d="100"/>
        </p:scale>
        <p:origin x="124" y="48"/>
      </p:cViewPr>
      <p:guideLst>
        <p:guide orient="horz" pos="2160"/>
        <p:guide pos="387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7" Type="http://schemas.openxmlformats.org/officeDocument/2006/relationships/slide" Target="slides/slide10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ableStyles" Target="tableStyles.xml"/><Relationship Id="rId41" Type="http://schemas.openxmlformats.org/officeDocument/2006/relationships/slide" Target="slides/slide2.xml"/><Relationship Id="rId42" Type="http://schemas.openxmlformats.org/officeDocument/2006/relationships/slide" Target="slides/slide3.xml"/><Relationship Id="rId43" Type="http://schemas.openxmlformats.org/officeDocument/2006/relationships/slide" Target="slides/slide4.xml"/><Relationship Id="rId44" Type="http://schemas.openxmlformats.org/officeDocument/2006/relationships/slide" Target="slides/slide5.xml"/><Relationship Id="rId45" Type="http://schemas.openxmlformats.org/officeDocument/2006/relationships/slide" Target="slides/slide6.xml"/><Relationship Id="rId46" Type="http://schemas.openxmlformats.org/officeDocument/2006/relationships/slide" Target="slides/slide7.xml"/><Relationship Id="rId47" Type="http://schemas.openxmlformats.org/officeDocument/2006/relationships/slide" Target="slides/slide9.xml"/><Relationship Id="rId4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7106C-D5AE-420C-BEF8-088D4D6B83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3391C1-445D-4244-8928-569776DA91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0.xml"/><Relationship Id="rId11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Relationship Id="rId16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Relationship Id="rId16" Type="http://schemas.microsoft.com/office/2007/relationships/media" Target="../media/media1.mp4"/><Relationship Id="rId17" Type="http://schemas.openxmlformats.org/officeDocument/2006/relationships/video" Target="../media/media1.mp4"/><Relationship Id="rId18" Type="http://schemas.openxmlformats.org/officeDocument/2006/relationships/image" Target="../media/image2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_文本框 24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1"/>
            </p:custDataLst>
          </p:nvPr>
        </p:nvSpPr>
        <p:spPr>
          <a:xfrm>
            <a:off x="182002" y="2728000"/>
            <a:ext cx="11827994" cy="1170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30000"/>
              </a:lnSpc>
              <a:defRPr sz="5400">
                <a:solidFill>
                  <a:srgbClr val="255580"/>
                </a:solidFill>
                <a:latin typeface="迷你简菱心" panose="02010609000101010101" pitchFamily="49" charset="-122"/>
                <a:ea typeface="迷你简菱心" panose="02010609000101010101" pitchFamily="49" charset="-122"/>
              </a:defRPr>
            </a:lvl1pPr>
          </a:lstStyle>
          <a:p>
            <a:r>
              <a:rPr lang="zh-CN" altLang="en-US" dirty="0" sz="3400">
                <a:solidFill>
                  <a:srgbClr val="3B5F80"/>
                </a:solidFill>
              </a:rPr>
              <a:t>基于 MuJoCo 与 ROS 2 的 Go1 车间通道通行</a:t>
            </a:r>
          </a:p>
        </p:txBody>
      </p:sp>
      <p:sp>
        <p:nvSpPr>
          <p:cNvPr id="8" name="PA_文本框 28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2"/>
            </p:custDataLst>
          </p:nvPr>
        </p:nvSpPr>
        <p:spPr>
          <a:xfrm>
            <a:off x="4988523" y="4894464"/>
            <a:ext cx="2214880" cy="33718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指导老师：[指导老师]</a:t>
            </a:r>
          </a:p>
        </p:txBody>
      </p:sp>
      <p:sp>
        <p:nvSpPr>
          <p:cNvPr id="9" name="PA_文本框 29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3"/>
            </p:custDataLst>
          </p:nvPr>
        </p:nvSpPr>
        <p:spPr>
          <a:xfrm>
            <a:off x="2898648" y="5382260"/>
            <a:ext cx="6400800" cy="5835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答 辩 人 ：教晔廷  臧文韬  牛麒皓  张欣  苏奕婷</a:t>
            </a:r>
          </a:p>
        </p:txBody>
      </p:sp>
      <p:grpSp>
        <p:nvGrpSpPr>
          <p:cNvPr id="13" name="组合 12"/>
          <p:cNvGrpSpPr/>
          <p:nvPr/>
        </p:nvGrpSpPr>
        <p:grpSpPr>
          <a:xfrm>
            <a:off x="3816544" y="4305569"/>
            <a:ext cx="5250889" cy="382068"/>
            <a:chOff x="3548596" y="4873761"/>
            <a:chExt cx="5250889" cy="382068"/>
          </a:xfrm>
        </p:grpSpPr>
        <p:sp>
          <p:nvSpPr>
            <p:cNvPr id="5" name="PA_任意多边形 30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  <p:cNvSpPr/>
            <p:nvPr>
              <p:custDataLst>
                <p:tags r:id="rId4"/>
              </p:custDataLst>
            </p:nvPr>
          </p:nvSpPr>
          <p:spPr>
            <a:xfrm>
              <a:off x="3548596" y="5059717"/>
              <a:ext cx="1129553" cy="0"/>
            </a:xfrm>
            <a:custGeom>
              <a:avLst/>
              <a:gdLst>
                <a:gd name="connsiteX0" fmla="*/ 1129553 w 1129553"/>
                <a:gd name="connsiteY0" fmla="*/ 0 h 0"/>
                <a:gd name="connsiteX1" fmla="*/ 0 w 112955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9553">
                  <a:moveTo>
                    <a:pt x="1129553" y="0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rgbClr val="325B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40220F"/>
                </a:solidFill>
                <a:latin typeface="Tw Cen MT" panose="020B0602020104020603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6" name="PA_任意多边形 31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  <p:cNvSpPr/>
            <p:nvPr>
              <p:custDataLst>
                <p:tags r:id="rId5"/>
              </p:custDataLst>
            </p:nvPr>
          </p:nvSpPr>
          <p:spPr>
            <a:xfrm>
              <a:off x="7669932" y="5059717"/>
              <a:ext cx="1129553" cy="0"/>
            </a:xfrm>
            <a:custGeom>
              <a:avLst/>
              <a:gdLst>
                <a:gd name="connsiteX0" fmla="*/ 1129553 w 1129553"/>
                <a:gd name="connsiteY0" fmla="*/ 0 h 0"/>
                <a:gd name="connsiteX1" fmla="*/ 0 w 112955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9553">
                  <a:moveTo>
                    <a:pt x="1129553" y="0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rgbClr val="325B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40220F"/>
                </a:solidFill>
                <a:latin typeface="Tw Cen MT" panose="020B0602020104020603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12" name="矩形: 圆角 11"/>
            <p:cNvSpPr/>
            <p:nvPr/>
          </p:nvSpPr>
          <p:spPr>
            <a:xfrm>
              <a:off x="4314713" y="4873761"/>
              <a:ext cx="3401042" cy="382068"/>
            </a:xfrm>
            <a:prstGeom prst="roundRect">
              <a:avLst>
                <a:gd name="adj" fmla="val 32163"/>
              </a:avLst>
            </a:prstGeom>
            <a:solidFill>
              <a:srgbClr val="335C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bg1"/>
                  </a:solidFill>
                  <a:latin typeface="Tw Cen MT" panose="020B0602020104020603" pitchFamily="34" charset="0"/>
                  <a:ea typeface="微软雅黑" panose="020B0503020204020204" pitchFamily="34" charset="-122"/>
                </a:rPr>
                <a:t>第一组 · B2 车间通道通行</a:t>
              </a:r>
            </a:p>
          </p:txBody>
        </p:sp>
      </p:grpSp>
      <p:pic>
        <p:nvPicPr>
          <p:cNvPr id="4" name="图片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4869" y="842574"/>
            <a:ext cx="1622260" cy="16143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工业场景与任务：B2 车间通道通行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pic>
        <p:nvPicPr>
          <p:cNvPr id="21" name="Picture 20" descr="go1_factory_overview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6928" y="1097280"/>
            <a:ext cx="5577840" cy="313753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566928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66928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目标点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87168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87168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87168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通行 + 绕障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07407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407407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是否到达终点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1645920"/>
            <a:ext cx="393192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B2 要求完成情况</a:t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2240279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194560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起点到达目标点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2194560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约 49.5 m 迷宫路线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2916935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2871215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遇障停车或绕行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2871215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自动绕开 6 处临时障碍</a:t>
            </a:r>
          </a:p>
        </p:txBody>
      </p:sp>
      <p:sp>
        <p:nvSpPr>
          <p:cNvPr id="38" name="Oval 37"/>
          <p:cNvSpPr/>
          <p:nvPr/>
        </p:nvSpPr>
        <p:spPr>
          <a:xfrm>
            <a:off x="6537960" y="3593591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3547872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距离感知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1160" y="3547872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2D 激光雷达</a:t>
            </a:r>
          </a:p>
        </p:txBody>
      </p:sp>
      <p:sp>
        <p:nvSpPr>
          <p:cNvPr id="41" name="Oval 40"/>
          <p:cNvSpPr/>
          <p:nvPr/>
        </p:nvSpPr>
        <p:spPr>
          <a:xfrm>
            <a:off x="6537960" y="4270248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4224528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速度 / 导航指令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4224528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→ 机器人</a:t>
            </a:r>
          </a:p>
        </p:txBody>
      </p:sp>
      <p:sp>
        <p:nvSpPr>
          <p:cNvPr id="44" name="Oval 43"/>
          <p:cNvSpPr/>
          <p:nvPr/>
        </p:nvSpPr>
        <p:spPr>
          <a:xfrm>
            <a:off x="6537960" y="4946904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901184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到达状态反馈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81160" y="4901184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任务进度话题</a:t>
            </a:r>
          </a:p>
        </p:txBody>
      </p:sp>
      <p:sp>
        <p:nvSpPr>
          <p:cNvPr id="47" name="Oval 46"/>
          <p:cNvSpPr/>
          <p:nvPr/>
        </p:nvSpPr>
        <p:spPr>
          <a:xfrm>
            <a:off x="6537960" y="5623560"/>
            <a:ext cx="384048" cy="384048"/>
          </a:xfrm>
          <a:prstGeom prst="ellipse">
            <a:avLst/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86600" y="5577840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拓展：重新规划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5577840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发现障碍后重算路径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技术选型：MuJoCo + Unitree Go1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783080"/>
            <a:ext cx="5394960" cy="30175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2011680"/>
            <a:ext cx="3383279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仿真平台：MuJoCo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2697480"/>
            <a:ext cx="4846320" cy="1965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策略在 MuJoCo 中训练，同引擎部署才稳定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早期 Gazebo 方案限速仅 0.5 m/s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Python 直接生成工厂和地图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783080"/>
            <a:ext cx="5394960" cy="30175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428232" y="2011680"/>
            <a:ext cx="448056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机器人：Unitree Go1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2697480"/>
            <a:ext cx="4846320" cy="1965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有现成训练好的行走策略，不用从零训练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官方高质量模型（MuJoCo Menagerie）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标准 ROS 接口，以后方便迁移实机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120640"/>
            <a:ext cx="11027664" cy="91440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一句话：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步态策略对物理引擎很敏感，训练用什么引擎，部署就必须用什么引擎。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系统架构：四层闭环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导航层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Nav2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定位、路径规划、避障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026664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374136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3602736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4136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4136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看门狗、急停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833872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81344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409944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运动层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RL 策略生成步态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8641080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88552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9217152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物理层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552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MuJoCo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物理仿真、激光</a:t>
            </a:r>
          </a:p>
        </p:txBody>
      </p:sp>
      <p:sp>
        <p:nvSpPr>
          <p:cNvPr id="40" name="Left Arrow 39"/>
          <p:cNvSpPr/>
          <p:nvPr/>
        </p:nvSpPr>
        <p:spPr>
          <a:xfrm>
            <a:off x="566928" y="4251960"/>
            <a:ext cx="502920" cy="457200"/>
          </a:xfrm>
          <a:prstGeom prst="lef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15568" y="4251960"/>
            <a:ext cx="10479024" cy="457200"/>
          </a:xfrm>
          <a:prstGeom prst="roundRect">
            <a:avLst>
              <a:gd name="adj" fmla="val 25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反馈：里程计 /odom、激光 /scan、坐标 /tf 回到导航层，形成闭环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029200"/>
            <a:ext cx="11027664" cy="123444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77240" y="5074920"/>
            <a:ext cx="10607040" cy="11430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任务输入：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goal.py 自动发送目标，或在 RViz 中点选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离线准备：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脚本生成工厂场景，再由同一场景生成导航地图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767328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橙色 = 本组编写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ROS 通信关系与模块说明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94359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94359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map_server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59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地图服务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8960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108960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amcl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激光定位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623560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goal.py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任务下发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59" y="31455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59" y="32004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59" y="35295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机器狗仿真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23560" y="31455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623560" y="32004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Nav2 规划控制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23560" y="35295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全局 + 局部规划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59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59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59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看门狗 / 急停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108960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108960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collision_monitor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碰撞预判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23560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623560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velocity_smoother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560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速度平滑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514600" y="16916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943100" y="136245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/map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584573" y="20665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503420" y="218541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/tf 位姿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583680" y="20665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647688" y="2313432"/>
            <a:ext cx="1005840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/navigate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_to_pose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14600" y="3520440"/>
            <a:ext cx="31089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749039" y="319125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/odom  /scan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2069973" y="20665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531620" y="2350008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/scan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069973" y="38953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903220" y="4105655"/>
            <a:ext cx="7315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/scan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58368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492240" y="428853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/cmd_vel_nav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5029200" y="53492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457700" y="465429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/cmd_vel_smoothed</a:t>
            </a:r>
          </a:p>
        </p:txBody>
      </p:sp>
      <p:cxnSp>
        <p:nvCxnSpPr>
          <p:cNvPr id="61" name="Connector 60"/>
          <p:cNvCxnSpPr/>
          <p:nvPr/>
        </p:nvCxnSpPr>
        <p:spPr>
          <a:xfrm flipH="1">
            <a:off x="2514600" y="53492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943100" y="465429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114300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11480" y="4288536"/>
            <a:ext cx="11887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/cmd_vel_safe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6596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947672" y="4425696"/>
            <a:ext cx="7315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/odom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925312"/>
            <a:ext cx="7132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橙色框</a:t>
            </a: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：本组节点   </a:t>
            </a:r>
            <a:r>
              <a:rPr sz="11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蓝色框</a:t>
            </a: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：Nav2 节点   箭头上为话题，省略了 /rosout 等辅助话题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01000" y="1691640"/>
            <a:ext cx="3593591" cy="45720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83879" y="1828800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83879" y="2112264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执行速度指令，发布里程计和激光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83879" y="2450592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83879" y="2734056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超时自动停车、急停，最后一道安全关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83879" y="3072384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goal.py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83879" y="3355848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发送目标点，反馈是否到达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79" y="3694176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map_server / amcl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79" y="3977639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加载地图，用激光确定自身位置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83879" y="4315968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Nav2 规划控制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879" y="4599431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算全局路线，实时生成避障速度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83879" y="4937759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velocity_smoother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83879" y="5221223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限制加速度，让速度变化平稳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83879" y="5559551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collision_monitor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83879" y="5843015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预判 1.2 s 内的碰撞并减速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核心实现：自己完成的部分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783080"/>
            <a:ext cx="6309360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201168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本组完成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2697480"/>
            <a:ext cx="576072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工厂场景与地图自动生成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机器人模型一致性验证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看门狗与急停节点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任务下发与进度反馈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启动守护节点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参数调优与测试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14032" y="1783080"/>
            <a:ext cx="4480560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342632" y="201168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复用开源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8352" y="2697480"/>
            <a:ext cx="393192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模型（MuJoCo Menagerie）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行走策略与运动节点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导航栈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MuJoCo、ROS 2 Jazzy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86400"/>
            <a:ext cx="11027664" cy="77724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5486400"/>
            <a:ext cx="106070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难点：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改造场景时不能动机器人。我们让同一策略在新旧模型里各走一遍，轨迹完全一致才算通过。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演示结果、问题与改进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6692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2 /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完整运行均到达终点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9295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09295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44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295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最快用时，路线约 49.5 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1898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61898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1.29 m/s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898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最高速度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501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4501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501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摔倒次数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2743200"/>
            <a:ext cx="5422392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95528" y="2971800"/>
            <a:ext cx="173736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遇到的问题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" y="3657600"/>
            <a:ext cx="4873752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迷宫转弯太窄会卡住 → 通道放宽到 3 m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启动偶尔卡住 → 加启动守护节点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离障碍太近 → 加快代价地图刷新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2743200"/>
            <a:ext cx="5422392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00800" y="297180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后续改进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657600"/>
            <a:ext cx="4873752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增加“遇障”状态反馈与停车演示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台阶区域（需地形感知策略）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动态障碍：移动的叉车和行人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演示视频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pic>
        <p:nvPicPr>
          <p:cNvPr id="21" name="demo_small.mp4">
            <a:hlinkClick r:id="" action="ppaction://media"/>
          </p:cNvPr>
          <p:cNvPicPr>
            <a:picLocks noChangeAspect="1"/>
          </p:cNvPicPr>
          <p:nvPr>
            <a:videoFile r:link="rId17"/>
            <p:extLst>
              <p:ext uri="{DAA4B4D4-6D71-4841-9C94-3DE7FCFB9230}">
                <p14:media xmlns:p14="http://schemas.microsoft.com/office/powerpoint/2010/main" r:embed="rId16"/>
              </p:ext>
            </p:extLst>
          </p:nvPr>
        </p:nvPicPr>
        <p:blipFill>
          <a:blip r:embed="rId18"/>
          <a:stretch>
            <a:fillRect/>
          </a:stretch>
        </p:blipFill>
        <p:spPr>
          <a:xfrm>
            <a:off x="1432407" y="1143000"/>
            <a:ext cx="8595360" cy="483489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32407" y="6051042"/>
            <a:ext cx="8595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起点出发 → 主通道绕过托盘和锥桶 → 迷宫连续掉头 → 到达终点（1 分 54 秒，点击播放）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成员分工与开源资料来源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1097280"/>
          <a:ext cx="5852160" cy="3401568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1051560"/>
                <a:gridCol w="32004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角色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成员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负责内容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 仿真与平台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工厂场景、启动配置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 动作与执行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运动节点、Nav2 调参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 感知与交互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激光、代价地图、地图生成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 任务与记录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任务流程、看门狗与急停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 集成与测试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联调测试、视频与文档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45537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第一组：</a:t>
            </a:r>
            <a:r>
              <a:rPr sz="13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教晔廷、臧文韬、牛麒皓、张欣、苏奕婷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1691640"/>
            <a:ext cx="4919472" cy="27889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903720" y="192024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开源来源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606040"/>
            <a:ext cx="4370832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模型：MuJoCo Menagerie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行走策略与运动节点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ROS 2 Jazzy、Nav2、MuJoCo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83480"/>
            <a:ext cx="11027664" cy="128016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029200"/>
            <a:ext cx="10607040" cy="11887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代码仓库：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github.com/richardzang2006-svg/go1-b2-navigation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启动演示：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./scripts/start_demo.sh（完整说明见 README）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5" name="PA_文本框 24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1"/>
            </p:custDataLst>
          </p:nvPr>
        </p:nvSpPr>
        <p:spPr>
          <a:xfrm>
            <a:off x="182002" y="2469555"/>
            <a:ext cx="11827994" cy="1494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30000"/>
              </a:lnSpc>
              <a:defRPr sz="5400">
                <a:solidFill>
                  <a:srgbClr val="255580"/>
                </a:solidFill>
                <a:latin typeface="迷你简菱心" panose="02010609000101010101" pitchFamily="49" charset="-122"/>
                <a:ea typeface="迷你简菱心" panose="02010609000101010101" pitchFamily="49" charset="-122"/>
              </a:defRPr>
            </a:lvl1pPr>
          </a:lstStyle>
          <a:p>
            <a:r>
              <a:rPr lang="zh-CN" altLang="en-US" sz="7200" dirty="0">
                <a:solidFill>
                  <a:srgbClr val="3B5F80"/>
                </a:solidFill>
              </a:rPr>
              <a:t>谢谢大家，欢迎提问</a:t>
            </a: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PA" val="v3.2.0"/>
</p:tagLst>
</file>

<file path=ppt/tags/tag2.xml><?xml version="1.0" encoding="utf-8"?>
<p:tagLst xmlns:p="http://schemas.openxmlformats.org/presentationml/2006/main">
  <p:tag name="PA" val="v3.2.0"/>
</p:tagLst>
</file>

<file path=ppt/tags/tag3.xml><?xml version="1.0" encoding="utf-8"?>
<p:tagLst xmlns:p="http://schemas.openxmlformats.org/presentationml/2006/main">
  <p:tag name="PA" val="v3.2.0"/>
</p:tagLst>
</file>

<file path=ppt/tags/tag4.xml><?xml version="1.0" encoding="utf-8"?>
<p:tagLst xmlns:p="http://schemas.openxmlformats.org/presentationml/2006/main">
  <p:tag name="PA" val="v3.2.0"/>
</p:tagLst>
</file>

<file path=ppt/tags/tag5.xml><?xml version="1.0" encoding="utf-8"?>
<p:tagLst xmlns:p="http://schemas.openxmlformats.org/presentationml/2006/main">
  <p:tag name="PA" val="v3.2.0"/>
</p:tagLst>
</file>

<file path=ppt/tags/tag6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7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8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9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10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1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2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3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14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5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6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7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23.xml><?xml version="1.0" encoding="utf-8"?>
<p:tagLst xmlns:p="http://schemas.openxmlformats.org/presentationml/2006/main">
  <p:tag name="PA" val="v3.2.0"/>
</p:tagLst>
</file>

<file path=ppt/theme/theme1.xml><?xml version="1.0" encoding="utf-8"?>
<a:theme xmlns:a="http://schemas.openxmlformats.org/drawingml/2006/main" name="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3755</Words>
  <Application>WPS 演示</Application>
  <PresentationFormat>宽屏</PresentationFormat>
  <Paragraphs>433</Paragraphs>
  <Slides>30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5</vt:i4>
      </vt:variant>
      <vt:variant>
        <vt:lpstr>幻灯片标题</vt:lpstr>
      </vt:variant>
      <vt:variant>
        <vt:i4>30</vt:i4>
      </vt:variant>
    </vt:vector>
  </HeadingPairs>
  <TitlesOfParts>
    <vt:vector size="55" baseType="lpstr">
      <vt:lpstr>Arial</vt:lpstr>
      <vt:lpstr>宋体</vt:lpstr>
      <vt:lpstr>Wingdings</vt:lpstr>
      <vt:lpstr>微软雅黑</vt:lpstr>
      <vt:lpstr>Arial Black</vt:lpstr>
      <vt:lpstr>Wingdings 2</vt:lpstr>
      <vt:lpstr>幼圆</vt:lpstr>
      <vt:lpstr>Arial</vt:lpstr>
      <vt:lpstr>迷你简菱心</vt:lpstr>
      <vt:lpstr>Tw Cen MT</vt:lpstr>
      <vt:lpstr>Calibri</vt:lpstr>
      <vt:lpstr>Arial Unicode MS</vt:lpstr>
      <vt:lpstr>等线</vt:lpstr>
      <vt:lpstr>迷你简菱心</vt:lpstr>
      <vt:lpstr>Segoe Print</vt:lpstr>
      <vt:lpstr>Noto Sans SC</vt:lpstr>
      <vt:lpstr>方正姚体</vt:lpstr>
      <vt:lpstr>Calibri</vt:lpstr>
      <vt:lpstr>黑体</vt:lpstr>
      <vt:lpstr>Swiss911 UCm BT</vt:lpstr>
      <vt:lpstr>A000120140530A99PPBG</vt:lpstr>
      <vt:lpstr>1_A000120140530A99PPBG</vt:lpstr>
      <vt:lpstr>2_A000120140530A99PPBG</vt:lpstr>
      <vt:lpstr>3_A000120140530A99PPBG</vt:lpstr>
      <vt:lpstr>4_A000120140530A99PPBG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Anzichen</dc:creator>
  <cp:lastModifiedBy>1</cp:lastModifiedBy>
  <cp:revision>54</cp:revision>
  <dcterms:created xsi:type="dcterms:W3CDTF">2019-08-14T01:23:00Z</dcterms:created>
  <dcterms:modified xsi:type="dcterms:W3CDTF">2026-04-20T05:05:08Z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140E9D58D5F1484AA16DFEE731E2F7A6_13</vt:lpwstr>
  </property>
</Properties>
</file>