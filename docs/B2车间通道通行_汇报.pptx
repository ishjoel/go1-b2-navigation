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6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2.xml" ContentType="application/vnd.openxmlformats-officedocument.presentationml.tags+xml"/>
  <Override PartName="/ppt/tags/tag23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9" r:id="rId3"/>
    <p:sldMasterId id="2147483670" r:id="rId4"/>
    <p:sldMasterId id="2147483681" r:id="rId5"/>
    <p:sldMasterId id="2147483692" r:id="rId6"/>
  </p:sldMasterIdLst>
  <p:notesMasterIdLst>
    <p:notesMasterId r:id="rId8"/>
  </p:notesMasterIdLst>
  <p:sldIdLst>
    <p:sldId id="257" r:id="rId7"/>
    <p:sldId id="513" r:id="rId41"/>
    <p:sldId id="514" r:id="rId42"/>
    <p:sldId id="515" r:id="rId43"/>
    <p:sldId id="516" r:id="rId44"/>
    <p:sldId id="517" r:id="rId45"/>
    <p:sldId id="518" r:id="rId46"/>
    <p:sldId id="520" r:id="rId48"/>
    <p:sldId id="519" r:id="rId47"/>
    <p:sldId id="500" r:id="rId3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7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clrMru>
    <a:srgbClr val="395E7F"/>
    <a:srgbClr val="325B7F"/>
    <a:srgbClr val="335C80"/>
    <a:srgbClr val="3B5F80"/>
    <a:srgbClr val="385D7F"/>
    <a:srgbClr val="235480"/>
    <a:srgbClr val="FFFFFF"/>
    <a:srgbClr val="255580"/>
    <a:srgbClr val="0E4A80"/>
    <a:srgbClr val="BDDC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89" autoAdjust="0"/>
    <p:restoredTop sz="94660"/>
  </p:normalViewPr>
  <p:slideViewPr>
    <p:cSldViewPr snapToGrid="0" showGuides="1">
      <p:cViewPr varScale="1">
        <p:scale>
          <a:sx n="72" d="100"/>
          <a:sy n="72" d="100"/>
        </p:scale>
        <p:origin x="124" y="48"/>
      </p:cViewPr>
      <p:guideLst>
        <p:guide orient="horz" pos="2160"/>
        <p:guide pos="3872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37" Type="http://schemas.openxmlformats.org/officeDocument/2006/relationships/slide" Target="slides/slide26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ableStyles" Target="tableStyles.xml"/><Relationship Id="rId41" Type="http://schemas.openxmlformats.org/officeDocument/2006/relationships/slide" Target="slides/slide5.xml"/><Relationship Id="rId42" Type="http://schemas.openxmlformats.org/officeDocument/2006/relationships/slide" Target="slides/slide11.xml"/><Relationship Id="rId43" Type="http://schemas.openxmlformats.org/officeDocument/2006/relationships/slide" Target="slides/slide12.xml"/><Relationship Id="rId44" Type="http://schemas.openxmlformats.org/officeDocument/2006/relationships/slide" Target="slides/slide13.xml"/><Relationship Id="rId45" Type="http://schemas.openxmlformats.org/officeDocument/2006/relationships/slide" Target="slides/slide15.xml"/><Relationship Id="rId46" Type="http://schemas.openxmlformats.org/officeDocument/2006/relationships/slide" Target="slides/slide16.xml"/><Relationship Id="rId47" Type="http://schemas.openxmlformats.org/officeDocument/2006/relationships/slide" Target="slides/slide17.xml"/><Relationship Id="rId48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97106C-D5AE-420C-BEF8-088D4D6B8388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3391C1-445D-4244-8928-569776DA9122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1_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10849147" y="6382534"/>
            <a:ext cx="1093711" cy="369332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ctr">
              <a:defRPr/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 </a:t>
            </a:r>
            <a:fld id="{2EEF1883-7A0E-4F66-9932-E581691AD397}" type="slidenum"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DDC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5" name="矩形: 圆角 4"/>
          <p:cNvSpPr/>
          <p:nvPr userDrawn="1"/>
        </p:nvSpPr>
        <p:spPr>
          <a:xfrm>
            <a:off x="163286" y="179614"/>
            <a:ext cx="11846379" cy="6474279"/>
          </a:xfrm>
          <a:prstGeom prst="roundRect">
            <a:avLst>
              <a:gd name="adj" fmla="val 4292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schemeClr val="bg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成果应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1_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10849147" y="6382534"/>
            <a:ext cx="1093711" cy="369332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ctr">
              <a:defRPr/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 </a:t>
            </a:r>
            <a:fld id="{2EEF1883-7A0E-4F66-9932-E581691AD397}" type="slidenum"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DDC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5" name="矩形: 圆角 4"/>
          <p:cNvSpPr/>
          <p:nvPr userDrawn="1"/>
        </p:nvSpPr>
        <p:spPr>
          <a:xfrm>
            <a:off x="163286" y="179614"/>
            <a:ext cx="11846379" cy="6474279"/>
          </a:xfrm>
          <a:prstGeom prst="roundRect">
            <a:avLst>
              <a:gd name="adj" fmla="val 4292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schemeClr val="bg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成果应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1_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10849147" y="6382534"/>
            <a:ext cx="1093711" cy="369332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ctr">
              <a:defRPr/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 </a:t>
            </a:r>
            <a:fld id="{2EEF1883-7A0E-4F66-9932-E581691AD397}" type="slidenum"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DDC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5" name="矩形: 圆角 4"/>
          <p:cNvSpPr/>
          <p:nvPr userDrawn="1"/>
        </p:nvSpPr>
        <p:spPr>
          <a:xfrm>
            <a:off x="163286" y="179614"/>
            <a:ext cx="11846379" cy="6474279"/>
          </a:xfrm>
          <a:prstGeom prst="roundRect">
            <a:avLst>
              <a:gd name="adj" fmla="val 4292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schemeClr val="bg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成果应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1_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10849147" y="6382534"/>
            <a:ext cx="1093711" cy="369332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ctr">
              <a:defRPr/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 </a:t>
            </a:r>
            <a:fld id="{2EEF1883-7A0E-4F66-9932-E581691AD397}" type="slidenum"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DDC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5" name="矩形: 圆角 4"/>
          <p:cNvSpPr/>
          <p:nvPr userDrawn="1"/>
        </p:nvSpPr>
        <p:spPr>
          <a:xfrm>
            <a:off x="163286" y="179614"/>
            <a:ext cx="11846379" cy="6474279"/>
          </a:xfrm>
          <a:prstGeom prst="roundRect">
            <a:avLst>
              <a:gd name="adj" fmla="val 4292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schemeClr val="bg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成果应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1_空白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10849147" y="6382534"/>
            <a:ext cx="1093711" cy="369332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ctr">
              <a:defRPr/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 </a:t>
            </a:r>
            <a:fld id="{2EEF1883-7A0E-4F66-9932-E581691AD397}" type="slidenum"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fld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DDC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5" name="矩形: 圆角 4"/>
          <p:cNvSpPr/>
          <p:nvPr userDrawn="1"/>
        </p:nvSpPr>
        <p:spPr>
          <a:xfrm>
            <a:off x="163286" y="179614"/>
            <a:ext cx="11846379" cy="6474279"/>
          </a:xfrm>
          <a:prstGeom prst="roundRect">
            <a:avLst>
              <a:gd name="adj" fmla="val 4292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schemeClr val="bg1">
                <a:lumMod val="50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成果应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5.xml"/><Relationship Id="rId6" Type="http://schemas.openxmlformats.org/officeDocument/2006/relationships/slideLayout" Target="../slideLayouts/slideLayout26.xml"/><Relationship Id="rId7" Type="http://schemas.openxmlformats.org/officeDocument/2006/relationships/slideLayout" Target="../slideLayouts/slideLayout27.xml"/><Relationship Id="rId8" Type="http://schemas.openxmlformats.org/officeDocument/2006/relationships/slideLayout" Target="../slideLayouts/slideLayout28.xml"/><Relationship Id="rId9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0.xml"/><Relationship Id="rId11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2.xml"/><Relationship Id="rId3" Type="http://schemas.openxmlformats.org/officeDocument/2006/relationships/slideLayout" Target="../slideLayouts/slideLayout33.xml"/><Relationship Id="rId4" Type="http://schemas.openxmlformats.org/officeDocument/2006/relationships/slideLayout" Target="../slideLayouts/slideLayout34.xml"/><Relationship Id="rId5" Type="http://schemas.openxmlformats.org/officeDocument/2006/relationships/slideLayout" Target="../slideLayouts/slideLayout35.xml"/><Relationship Id="rId6" Type="http://schemas.openxmlformats.org/officeDocument/2006/relationships/slideLayout" Target="../slideLayouts/slideLayout36.xml"/><Relationship Id="rId7" Type="http://schemas.openxmlformats.org/officeDocument/2006/relationships/slideLayout" Target="../slideLayouts/slideLayout37.xml"/><Relationship Id="rId8" Type="http://schemas.openxmlformats.org/officeDocument/2006/relationships/slideLayout" Target="../slideLayouts/slideLayout38.xml"/><Relationship Id="rId9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40.xml"/><Relationship Id="rId11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slideLayout" Target="../slideLayouts/slideLayout42.xml"/><Relationship Id="rId3" Type="http://schemas.openxmlformats.org/officeDocument/2006/relationships/slideLayout" Target="../slideLayouts/slideLayout43.xml"/><Relationship Id="rId4" Type="http://schemas.openxmlformats.org/officeDocument/2006/relationships/slideLayout" Target="../slideLayouts/slideLayout44.xml"/><Relationship Id="rId5" Type="http://schemas.openxmlformats.org/officeDocument/2006/relationships/slideLayout" Target="../slideLayouts/slideLayout45.xml"/><Relationship Id="rId6" Type="http://schemas.openxmlformats.org/officeDocument/2006/relationships/slideLayout" Target="../slideLayouts/slideLayout46.xml"/><Relationship Id="rId7" Type="http://schemas.openxmlformats.org/officeDocument/2006/relationships/slideLayout" Target="../slideLayouts/slideLayout47.xml"/><Relationship Id="rId8" Type="http://schemas.openxmlformats.org/officeDocument/2006/relationships/slideLayout" Target="../slideLayouts/slideLayout48.xml"/><Relationship Id="rId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0.xml"/><Relationship Id="rId11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hf hdr="0" dt="0"/>
  <p:txStyles>
    <p:titleStyle>
      <a:lvl1pPr algn="l" defTabSz="913765" rtl="0" eaLnBrk="1" latinLnBrk="0" hangingPunct="1">
        <a:lnSpc>
          <a:spcPct val="90000"/>
        </a:lnSpc>
        <a:spcBef>
          <a:spcPct val="0"/>
        </a:spcBef>
        <a:buNone/>
        <a:defRPr sz="32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357505" indent="-357505" algn="just" defTabSz="913765" rtl="0" eaLnBrk="1" latinLnBrk="0" hangingPunct="1">
        <a:lnSpc>
          <a:spcPct val="110000"/>
        </a:lnSpc>
        <a:spcBef>
          <a:spcPts val="180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2000" kern="1200" baseline="0">
          <a:solidFill>
            <a:srgbClr val="071F65"/>
          </a:solidFill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357505" indent="-357505" algn="just" defTabSz="913765" rtl="0" eaLnBrk="1" latinLnBrk="0" hangingPunct="1">
        <a:lnSpc>
          <a:spcPct val="130000"/>
        </a:lnSpc>
        <a:spcBef>
          <a:spcPts val="0"/>
        </a:spcBef>
        <a:spcAft>
          <a:spcPts val="60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6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1143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hf hdr="0" dt="0"/>
  <p:txStyles>
    <p:titleStyle>
      <a:lvl1pPr algn="l" defTabSz="913765" rtl="0" eaLnBrk="1" latinLnBrk="0" hangingPunct="1">
        <a:lnSpc>
          <a:spcPct val="90000"/>
        </a:lnSpc>
        <a:spcBef>
          <a:spcPct val="0"/>
        </a:spcBef>
        <a:buNone/>
        <a:defRPr sz="32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357505" indent="-357505" algn="just" defTabSz="913765" rtl="0" eaLnBrk="1" latinLnBrk="0" hangingPunct="1">
        <a:lnSpc>
          <a:spcPct val="110000"/>
        </a:lnSpc>
        <a:spcBef>
          <a:spcPts val="180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2000" kern="1200" baseline="0">
          <a:solidFill>
            <a:srgbClr val="071F65"/>
          </a:solidFill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357505" indent="-357505" algn="just" defTabSz="913765" rtl="0" eaLnBrk="1" latinLnBrk="0" hangingPunct="1">
        <a:lnSpc>
          <a:spcPct val="130000"/>
        </a:lnSpc>
        <a:spcBef>
          <a:spcPts val="0"/>
        </a:spcBef>
        <a:spcAft>
          <a:spcPts val="60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6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1143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hf hdr="0" dt="0"/>
  <p:txStyles>
    <p:titleStyle>
      <a:lvl1pPr algn="l" defTabSz="913765" rtl="0" eaLnBrk="1" latinLnBrk="0" hangingPunct="1">
        <a:lnSpc>
          <a:spcPct val="90000"/>
        </a:lnSpc>
        <a:spcBef>
          <a:spcPct val="0"/>
        </a:spcBef>
        <a:buNone/>
        <a:defRPr sz="32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357505" indent="-357505" algn="just" defTabSz="913765" rtl="0" eaLnBrk="1" latinLnBrk="0" hangingPunct="1">
        <a:lnSpc>
          <a:spcPct val="110000"/>
        </a:lnSpc>
        <a:spcBef>
          <a:spcPts val="180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2000" kern="1200" baseline="0">
          <a:solidFill>
            <a:srgbClr val="071F65"/>
          </a:solidFill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357505" indent="-357505" algn="just" defTabSz="913765" rtl="0" eaLnBrk="1" latinLnBrk="0" hangingPunct="1">
        <a:lnSpc>
          <a:spcPct val="130000"/>
        </a:lnSpc>
        <a:spcBef>
          <a:spcPts val="0"/>
        </a:spcBef>
        <a:spcAft>
          <a:spcPts val="60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6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1143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hf hdr="0" dt="0"/>
  <p:txStyles>
    <p:titleStyle>
      <a:lvl1pPr algn="l" defTabSz="913765" rtl="0" eaLnBrk="1" latinLnBrk="0" hangingPunct="1">
        <a:lnSpc>
          <a:spcPct val="90000"/>
        </a:lnSpc>
        <a:spcBef>
          <a:spcPct val="0"/>
        </a:spcBef>
        <a:buNone/>
        <a:defRPr sz="32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357505" indent="-357505" algn="just" defTabSz="913765" rtl="0" eaLnBrk="1" latinLnBrk="0" hangingPunct="1">
        <a:lnSpc>
          <a:spcPct val="110000"/>
        </a:lnSpc>
        <a:spcBef>
          <a:spcPts val="180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2000" kern="1200" baseline="0">
          <a:solidFill>
            <a:srgbClr val="071F65"/>
          </a:solidFill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357505" indent="-357505" algn="just" defTabSz="913765" rtl="0" eaLnBrk="1" latinLnBrk="0" hangingPunct="1">
        <a:lnSpc>
          <a:spcPct val="130000"/>
        </a:lnSpc>
        <a:spcBef>
          <a:spcPts val="0"/>
        </a:spcBef>
        <a:spcAft>
          <a:spcPts val="60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6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1143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>
      <p:transition spd="slow">
        <p:fade/>
      </p:transition>
    </mc:Fallback>
  </mc:AlternateContent>
  <p:hf hdr="0" dt="0"/>
  <p:txStyles>
    <p:titleStyle>
      <a:lvl1pPr algn="l" defTabSz="913765" rtl="0" eaLnBrk="1" latinLnBrk="0" hangingPunct="1">
        <a:lnSpc>
          <a:spcPct val="90000"/>
        </a:lnSpc>
        <a:spcBef>
          <a:spcPct val="0"/>
        </a:spcBef>
        <a:buNone/>
        <a:defRPr sz="3200" b="1" i="0" kern="1200" baseline="0">
          <a:solidFill>
            <a:srgbClr val="071F65"/>
          </a:solidFill>
          <a:effectLst/>
          <a:latin typeface="Arial Black" panose="020B0A040201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357505" indent="-357505" algn="just" defTabSz="913765" rtl="0" eaLnBrk="1" latinLnBrk="0" hangingPunct="1">
        <a:lnSpc>
          <a:spcPct val="110000"/>
        </a:lnSpc>
        <a:spcBef>
          <a:spcPts val="1800"/>
        </a:spcBef>
        <a:spcAft>
          <a:spcPts val="0"/>
        </a:spcAft>
        <a:buClr>
          <a:schemeClr val="accent2">
            <a:lumMod val="75000"/>
          </a:schemeClr>
        </a:buClr>
        <a:buSzPct val="70000"/>
        <a:buFont typeface="Wingdings 2" panose="05020102010507070707" pitchFamily="18" charset="2"/>
        <a:buChar char=""/>
        <a:defRPr sz="2000" kern="1200" baseline="0">
          <a:solidFill>
            <a:srgbClr val="071F65"/>
          </a:solidFill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357505" indent="-357505" algn="just" defTabSz="913765" rtl="0" eaLnBrk="1" latinLnBrk="0" hangingPunct="1">
        <a:lnSpc>
          <a:spcPct val="130000"/>
        </a:lnSpc>
        <a:spcBef>
          <a:spcPts val="0"/>
        </a:spcBef>
        <a:spcAft>
          <a:spcPts val="600"/>
        </a:spcAft>
        <a:buClr>
          <a:schemeClr val="accent2">
            <a:lumMod val="60000"/>
            <a:lumOff val="40000"/>
          </a:schemeClr>
        </a:buClr>
        <a:buFont typeface="幼圆" panose="02010509060101010101" pitchFamily="49" charset="-122"/>
        <a:buChar char=" "/>
        <a:defRPr sz="1600" kern="1200" baseline="0">
          <a:solidFill>
            <a:srgbClr val="071F65"/>
          </a:solidFill>
          <a:latin typeface="幼圆" panose="02010509060101010101" pitchFamily="49" charset="-122"/>
          <a:ea typeface="幼圆" panose="02010509060101010101" pitchFamily="49" charset="-122"/>
          <a:cs typeface="+mn-cs"/>
        </a:defRPr>
      </a:lvl2pPr>
      <a:lvl3pPr marL="1143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376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3765" rtl="0" eaLnBrk="1" latinLnBrk="0" hangingPunct="1">
        <a:defRPr sz="18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image" Target="../media/image2.png"/><Relationship Id="rId7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Relationship Id="rId16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image" Target="../media/image6.png"/><Relationship Id="rId7" Type="http://schemas.openxmlformats.org/officeDocument/2006/relationships/tags" Target="../tags/tag10.xml"/><Relationship Id="rId8" Type="http://schemas.openxmlformats.org/officeDocument/2006/relationships/tags" Target="../tags/tag11.xml"/><Relationship Id="rId9" Type="http://schemas.openxmlformats.org/officeDocument/2006/relationships/tags" Target="../tags/tag12.xml"/><Relationship Id="rId10" Type="http://schemas.openxmlformats.org/officeDocument/2006/relationships/tags" Target="../tags/tag13.xml"/><Relationship Id="rId11" Type="http://schemas.openxmlformats.org/officeDocument/2006/relationships/tags" Target="../tags/tag14.xml"/><Relationship Id="rId12" Type="http://schemas.openxmlformats.org/officeDocument/2006/relationships/tags" Target="../tags/tag15.xml"/><Relationship Id="rId13" Type="http://schemas.openxmlformats.org/officeDocument/2006/relationships/tags" Target="../tags/tag16.xml"/><Relationship Id="rId14" Type="http://schemas.openxmlformats.org/officeDocument/2006/relationships/tags" Target="../tags/tag17.xml"/><Relationship Id="rId15" Type="http://schemas.openxmlformats.org/officeDocument/2006/relationships/slideLayout" Target="../slideLayouts/slideLayout4.xml"/><Relationship Id="rId16" Type="http://schemas.microsoft.com/office/2007/relationships/media" Target="../media/media1.mp4"/><Relationship Id="rId17" Type="http://schemas.openxmlformats.org/officeDocument/2006/relationships/video" Target="../media/media1.mp4"/><Relationship Id="rId18" Type="http://schemas.openxmlformats.org/officeDocument/2006/relationships/image" Target="../media/image28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A_文本框 24" descr="e7d195523061f1c07f83f732a5522b9b3ebe164d7250580aEF66DE1A1ABCD1416532D3433F8BE1C4DD26AF8C595CA3B8FBFFDC471B28313D41FC0B29AEB12651AEAC05881CD0265D4CB30185DEC2EB287A3DCBE2E99F13933C1E803DDF331C0150FEA0675F290631D1EDC3C927CD0AA74DD8F417A5B73495B4C9A5AA47CFEB588A1D25B820586C98"/>
          <p:cNvSpPr txBox="1"/>
          <p:nvPr>
            <p:custDataLst>
              <p:tags r:id="rId1"/>
            </p:custDataLst>
          </p:nvPr>
        </p:nvSpPr>
        <p:spPr>
          <a:xfrm>
            <a:off x="182002" y="2728000"/>
            <a:ext cx="11827994" cy="1170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ct val="130000"/>
              </a:lnSpc>
              <a:defRPr sz="5400">
                <a:solidFill>
                  <a:srgbClr val="255580"/>
                </a:solidFill>
                <a:latin typeface="迷你简菱心" panose="02010609000101010101" pitchFamily="49" charset="-122"/>
                <a:ea typeface="迷你简菱心" panose="02010609000101010101" pitchFamily="49" charset="-122"/>
              </a:defRPr>
            </a:lvl1pPr>
          </a:lstStyle>
          <a:p>
            <a:r>
              <a:rPr lang="zh-CN" altLang="en-US" dirty="0" sz="3400">
                <a:solidFill>
                  <a:srgbClr val="3B5F80"/>
                </a:solidFill>
              </a:rPr>
              <a:t>基于 MuJoCo 与 ROS 2 的 Go1 车间通道通行</a:t>
            </a:r>
          </a:p>
        </p:txBody>
      </p:sp>
      <p:sp>
        <p:nvSpPr>
          <p:cNvPr id="8" name="PA_文本框 28" descr="e7d195523061f1c07f83f732a5522b9b3ebe164d7250580aEF66DE1A1ABCD1416532D3433F8BE1C4DD26AF8C595CA3B8FBFFDC471B28313D41FC0B29AEB12651AEAC05881CD0265D4CB30185DEC2EB287A3DCBE2E99F13933C1E803DDF331C0150FEA0675F290631D1EDC3C927CD0AA74DD8F417A5B73495B4C9A5AA47CFEB588A1D25B820586C98"/>
          <p:cNvSpPr txBox="1"/>
          <p:nvPr>
            <p:custDataLst>
              <p:tags r:id="rId2"/>
            </p:custDataLst>
          </p:nvPr>
        </p:nvSpPr>
        <p:spPr>
          <a:xfrm>
            <a:off x="4988523" y="4894464"/>
            <a:ext cx="2214880" cy="337185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指导老师：[指导老师]</a:t>
            </a:r>
          </a:p>
        </p:txBody>
      </p:sp>
      <p:sp>
        <p:nvSpPr>
          <p:cNvPr id="9" name="PA_文本框 29" descr="e7d195523061f1c07f83f732a5522b9b3ebe164d7250580aEF66DE1A1ABCD1416532D3433F8BE1C4DD26AF8C595CA3B8FBFFDC471B28313D41FC0B29AEB12651AEAC05881CD0265D4CB30185DEC2EB287A3DCBE2E99F13933C1E803DDF331C0150FEA0675F290631D1EDC3C927CD0AA74DD8F417A5B73495B4C9A5AA47CFEB588A1D25B820586C98"/>
          <p:cNvSpPr txBox="1"/>
          <p:nvPr>
            <p:custDataLst>
              <p:tags r:id="rId3"/>
            </p:custDataLst>
          </p:nvPr>
        </p:nvSpPr>
        <p:spPr>
          <a:xfrm>
            <a:off x="2898648" y="5382260"/>
            <a:ext cx="6400800" cy="5835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答 辩 人 ：教晔廷（组长）  臧文韬  牛麒皓  张欣  苏奕婷</a:t>
            </a:r>
          </a:p>
        </p:txBody>
      </p:sp>
      <p:grpSp>
        <p:nvGrpSpPr>
          <p:cNvPr id="13" name="组合 12"/>
          <p:cNvGrpSpPr/>
          <p:nvPr/>
        </p:nvGrpSpPr>
        <p:grpSpPr>
          <a:xfrm>
            <a:off x="3816544" y="4305569"/>
            <a:ext cx="5250889" cy="382068"/>
            <a:chOff x="3548596" y="4873761"/>
            <a:chExt cx="5250889" cy="382068"/>
          </a:xfrm>
        </p:grpSpPr>
        <p:sp>
          <p:nvSpPr>
            <p:cNvPr id="5" name="PA_任意多边形 30" descr="e7d195523061f1c07f83f732a5522b9b3ebe164d7250580aEF66DE1A1ABCD1416532D3433F8BE1C4DD26AF8C595CA3B8FBFFDC471B28313D41FC0B29AEB12651AEAC05881CD0265D4CB30185DEC2EB287A3DCBE2E99F13933C1E803DDF331C0150FEA0675F290631D1EDC3C927CD0AA74DD8F417A5B73495B4C9A5AA47CFEB588A1D25B820586C98"/>
            <p:cNvSpPr/>
            <p:nvPr>
              <p:custDataLst>
                <p:tags r:id="rId4"/>
              </p:custDataLst>
            </p:nvPr>
          </p:nvSpPr>
          <p:spPr>
            <a:xfrm>
              <a:off x="3548596" y="5059717"/>
              <a:ext cx="1129553" cy="0"/>
            </a:xfrm>
            <a:custGeom>
              <a:avLst/>
              <a:gdLst>
                <a:gd name="connsiteX0" fmla="*/ 1129553 w 1129553"/>
                <a:gd name="connsiteY0" fmla="*/ 0 h 0"/>
                <a:gd name="connsiteX1" fmla="*/ 0 w 1129553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9553">
                  <a:moveTo>
                    <a:pt x="1129553" y="0"/>
                  </a:moveTo>
                  <a:lnTo>
                    <a:pt x="0" y="0"/>
                  </a:lnTo>
                </a:path>
              </a:pathLst>
            </a:custGeom>
            <a:noFill/>
            <a:ln>
              <a:solidFill>
                <a:srgbClr val="325B7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40220F"/>
                </a:solidFill>
                <a:latin typeface="Tw Cen MT" panose="020B0602020104020603" pitchFamily="34" charset="0"/>
                <a:ea typeface="微软雅黑" panose="020B0503020204020204" pitchFamily="34" charset="-122"/>
              </a:endParaRPr>
            </a:p>
          </p:txBody>
        </p:sp>
        <p:sp>
          <p:nvSpPr>
            <p:cNvPr id="6" name="PA_任意多边形 31" descr="e7d195523061f1c07f83f732a5522b9b3ebe164d7250580aEF66DE1A1ABCD1416532D3433F8BE1C4DD26AF8C595CA3B8FBFFDC471B28313D41FC0B29AEB12651AEAC05881CD0265D4CB30185DEC2EB287A3DCBE2E99F13933C1E803DDF331C0150FEA0675F290631D1EDC3C927CD0AA74DD8F417A5B73495B4C9A5AA47CFEB588A1D25B820586C98"/>
            <p:cNvSpPr/>
            <p:nvPr>
              <p:custDataLst>
                <p:tags r:id="rId5"/>
              </p:custDataLst>
            </p:nvPr>
          </p:nvSpPr>
          <p:spPr>
            <a:xfrm>
              <a:off x="7669932" y="5059717"/>
              <a:ext cx="1129553" cy="0"/>
            </a:xfrm>
            <a:custGeom>
              <a:avLst/>
              <a:gdLst>
                <a:gd name="connsiteX0" fmla="*/ 1129553 w 1129553"/>
                <a:gd name="connsiteY0" fmla="*/ 0 h 0"/>
                <a:gd name="connsiteX1" fmla="*/ 0 w 1129553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9553">
                  <a:moveTo>
                    <a:pt x="1129553" y="0"/>
                  </a:moveTo>
                  <a:lnTo>
                    <a:pt x="0" y="0"/>
                  </a:lnTo>
                </a:path>
              </a:pathLst>
            </a:custGeom>
            <a:noFill/>
            <a:ln>
              <a:solidFill>
                <a:srgbClr val="325B7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40220F"/>
                </a:solidFill>
                <a:latin typeface="Tw Cen MT" panose="020B0602020104020603" pitchFamily="34" charset="0"/>
                <a:ea typeface="微软雅黑" panose="020B0503020204020204" pitchFamily="34" charset="-122"/>
              </a:endParaRPr>
            </a:p>
          </p:txBody>
        </p:sp>
        <p:sp>
          <p:nvSpPr>
            <p:cNvPr id="12" name="矩形: 圆角 11"/>
            <p:cNvSpPr/>
            <p:nvPr/>
          </p:nvSpPr>
          <p:spPr>
            <a:xfrm>
              <a:off x="4314713" y="4873761"/>
              <a:ext cx="3401042" cy="382068"/>
            </a:xfrm>
            <a:prstGeom prst="roundRect">
              <a:avLst>
                <a:gd name="adj" fmla="val 32163"/>
              </a:avLst>
            </a:prstGeom>
            <a:solidFill>
              <a:srgbClr val="335C8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bg1"/>
                  </a:solidFill>
                  <a:latin typeface="Tw Cen MT" panose="020B0602020104020603" pitchFamily="34" charset="0"/>
                  <a:ea typeface="微软雅黑" panose="020B0503020204020204" pitchFamily="34" charset="-122"/>
                </a:rPr>
                <a:t>第一组 · B2 车间通道通行</a:t>
              </a:r>
            </a:p>
          </p:txBody>
        </p:sp>
      </p:grpSp>
      <p:pic>
        <p:nvPicPr>
          <p:cNvPr id="4" name="图片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4869" y="842574"/>
            <a:ext cx="1622260" cy="16143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工业场景与任务：B2 车间通道通行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pic>
        <p:nvPicPr>
          <p:cNvPr id="21" name="Picture 20" descr="go1_factory_overview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66928" y="1097280"/>
            <a:ext cx="5577840" cy="3137535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566928" y="4509134"/>
            <a:ext cx="1737359" cy="105156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66928" y="4582287"/>
            <a:ext cx="1737359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输入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984623"/>
            <a:ext cx="1737359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目标点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487168" y="4509134"/>
            <a:ext cx="1737359" cy="105156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487168" y="4582287"/>
            <a:ext cx="1737359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87168" y="4984623"/>
            <a:ext cx="1737359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通行 + 绕障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07407" y="4509134"/>
            <a:ext cx="1737359" cy="105156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407407" y="4582287"/>
            <a:ext cx="1737359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7407" y="4984623"/>
            <a:ext cx="1737359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是否到达终点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1645920"/>
            <a:ext cx="393192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B2 要求完成情况</a:t>
            </a:r>
          </a:p>
        </p:txBody>
      </p:sp>
      <p:sp>
        <p:nvSpPr>
          <p:cNvPr id="32" name="Oval 31"/>
          <p:cNvSpPr/>
          <p:nvPr/>
        </p:nvSpPr>
        <p:spPr>
          <a:xfrm>
            <a:off x="6537960" y="2240279"/>
            <a:ext cx="384048" cy="384048"/>
          </a:xfrm>
          <a:prstGeom prst="ellipse">
            <a:avLst/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2194560"/>
            <a:ext cx="219456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起点到达目标点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1160" y="2194560"/>
            <a:ext cx="233172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约 49.5 m 迷宫路线</a:t>
            </a:r>
          </a:p>
        </p:txBody>
      </p:sp>
      <p:sp>
        <p:nvSpPr>
          <p:cNvPr id="35" name="Oval 34"/>
          <p:cNvSpPr/>
          <p:nvPr/>
        </p:nvSpPr>
        <p:spPr>
          <a:xfrm>
            <a:off x="6537960" y="2916935"/>
            <a:ext cx="384048" cy="384048"/>
          </a:xfrm>
          <a:prstGeom prst="ellipse">
            <a:avLst/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2871215"/>
            <a:ext cx="219456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遇障停车或绕行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1160" y="2871215"/>
            <a:ext cx="233172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自动绕开 6 处临时障碍</a:t>
            </a:r>
          </a:p>
        </p:txBody>
      </p:sp>
      <p:sp>
        <p:nvSpPr>
          <p:cNvPr id="38" name="Oval 37"/>
          <p:cNvSpPr/>
          <p:nvPr/>
        </p:nvSpPr>
        <p:spPr>
          <a:xfrm>
            <a:off x="6537960" y="3593591"/>
            <a:ext cx="384048" cy="384048"/>
          </a:xfrm>
          <a:prstGeom prst="ellipse">
            <a:avLst/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3547872"/>
            <a:ext cx="219456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距离感知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81160" y="3547872"/>
            <a:ext cx="233172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2D 激光雷达</a:t>
            </a:r>
          </a:p>
        </p:txBody>
      </p:sp>
      <p:sp>
        <p:nvSpPr>
          <p:cNvPr id="41" name="Oval 40"/>
          <p:cNvSpPr/>
          <p:nvPr/>
        </p:nvSpPr>
        <p:spPr>
          <a:xfrm>
            <a:off x="6537960" y="4270248"/>
            <a:ext cx="384048" cy="384048"/>
          </a:xfrm>
          <a:prstGeom prst="ellipse">
            <a:avLst/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600" y="4224528"/>
            <a:ext cx="219456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速度 / 导航指令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81160" y="4224528"/>
            <a:ext cx="233172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Nav2 → 机器人</a:t>
            </a:r>
          </a:p>
        </p:txBody>
      </p:sp>
      <p:sp>
        <p:nvSpPr>
          <p:cNvPr id="44" name="Oval 43"/>
          <p:cNvSpPr/>
          <p:nvPr/>
        </p:nvSpPr>
        <p:spPr>
          <a:xfrm>
            <a:off x="6537960" y="4946904"/>
            <a:ext cx="384048" cy="384048"/>
          </a:xfrm>
          <a:prstGeom prst="ellipse">
            <a:avLst/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4901184"/>
            <a:ext cx="219456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到达状态反馈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81160" y="4901184"/>
            <a:ext cx="233172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任务进度话题</a:t>
            </a:r>
          </a:p>
        </p:txBody>
      </p:sp>
      <p:sp>
        <p:nvSpPr>
          <p:cNvPr id="47" name="Oval 46"/>
          <p:cNvSpPr/>
          <p:nvPr/>
        </p:nvSpPr>
        <p:spPr>
          <a:xfrm>
            <a:off x="6537960" y="5623560"/>
            <a:ext cx="384048" cy="384048"/>
          </a:xfrm>
          <a:prstGeom prst="ellipse">
            <a:avLst/>
          </a:prstGeom>
          <a:solidFill>
            <a:srgbClr val="C9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86600" y="5577840"/>
            <a:ext cx="219456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拓展：重新规划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81160" y="5577840"/>
            <a:ext cx="233172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发现障碍后重算路径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技术选型：MuJoCo + Unitree Go1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66928" y="1783080"/>
            <a:ext cx="5394960" cy="301752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795528" y="2011680"/>
            <a:ext cx="3383279" cy="45720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仿真平台：MuJoCo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2697480"/>
            <a:ext cx="4846320" cy="1965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策略在 MuJoCo 中训练，同引擎部署才稳定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早期 Gazebo 方案限速仅 0.5 m/s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Python 直接生成工厂和地图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1783080"/>
            <a:ext cx="5394960" cy="301752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428232" y="2011680"/>
            <a:ext cx="4480560" cy="45720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机器人：Unitree Go1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2697480"/>
            <a:ext cx="4846320" cy="1965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有现成训练好的行走策略，不用从零训练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官方高质量模型（MuJoCo Menagerie）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标准 ROS 接口，以后方便迁移实机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120640"/>
            <a:ext cx="11027664" cy="914400"/>
          </a:xfrm>
          <a:prstGeom prst="roundRect">
            <a:avLst>
              <a:gd name="adj" fmla="val 8000"/>
            </a:avLst>
          </a:prstGeom>
          <a:solidFill>
            <a:srgbClr val="E1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77240" y="5120640"/>
            <a:ext cx="10607040" cy="9144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一句话：</a:t>
            </a:r>
            <a:r>
              <a:rPr sz="18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步态策略对物理引擎很敏感，训练用什么引擎，部署就必须用什么引擎。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系统架构：四层闭环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66928" y="1600200"/>
            <a:ext cx="2395728" cy="210312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795528" y="1828800"/>
            <a:ext cx="1938528" cy="50292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导航层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468880"/>
            <a:ext cx="239572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Nav2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880360"/>
            <a:ext cx="239572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定位、路径规划、避障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3026664" y="2468880"/>
            <a:ext cx="283464" cy="347472"/>
          </a:xfrm>
          <a:prstGeom prst="rightArrow">
            <a:avLst/>
          </a:prstGeom>
          <a:solidFill>
            <a:srgbClr val="32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374136" y="1600200"/>
            <a:ext cx="2395728" cy="2103120"/>
          </a:xfrm>
          <a:prstGeom prst="roundRect">
            <a:avLst>
              <a:gd name="adj" fmla="val 8000"/>
            </a:avLst>
          </a:prstGeom>
          <a:solidFill>
            <a:srgbClr val="FDEBD6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3602736" y="1828800"/>
            <a:ext cx="1938528" cy="502920"/>
          </a:xfrm>
          <a:prstGeom prst="roundRect">
            <a:avLst>
              <a:gd name="adj" fmla="val 25000"/>
            </a:avLst>
          </a:prstGeom>
          <a:solidFill>
            <a:srgbClr val="C9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安全层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74136" y="2468880"/>
            <a:ext cx="239572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workshop_runtime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74136" y="2880360"/>
            <a:ext cx="239572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看门狗、急停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5833872" y="2468880"/>
            <a:ext cx="283464" cy="347472"/>
          </a:xfrm>
          <a:prstGeom prst="rightArrow">
            <a:avLst/>
          </a:prstGeom>
          <a:solidFill>
            <a:srgbClr val="32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181344" y="1600200"/>
            <a:ext cx="2395728" cy="2103120"/>
          </a:xfrm>
          <a:prstGeom prst="roundRect">
            <a:avLst>
              <a:gd name="adj" fmla="val 8000"/>
            </a:avLst>
          </a:prstGeom>
          <a:solidFill>
            <a:srgbClr val="FDEBD6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6409944" y="1828800"/>
            <a:ext cx="1938528" cy="502920"/>
          </a:xfrm>
          <a:prstGeom prst="roundRect">
            <a:avLst>
              <a:gd name="adj" fmla="val 25000"/>
            </a:avLst>
          </a:prstGeom>
          <a:solidFill>
            <a:srgbClr val="C9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运动层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81344" y="2468880"/>
            <a:ext cx="239572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go1_locomotion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81344" y="2880360"/>
            <a:ext cx="239572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RL 策略生成步态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8641080" y="2468880"/>
            <a:ext cx="283464" cy="347472"/>
          </a:xfrm>
          <a:prstGeom prst="rightArrow">
            <a:avLst/>
          </a:prstGeom>
          <a:solidFill>
            <a:srgbClr val="325B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88552" y="1600200"/>
            <a:ext cx="2395728" cy="210312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9217152" y="1828800"/>
            <a:ext cx="1938528" cy="50292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物理层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88552" y="2468880"/>
            <a:ext cx="239572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MuJoCo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2880360"/>
            <a:ext cx="239572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物理仿真、激光</a:t>
            </a:r>
          </a:p>
        </p:txBody>
      </p:sp>
      <p:sp>
        <p:nvSpPr>
          <p:cNvPr id="40" name="Left Arrow 39"/>
          <p:cNvSpPr/>
          <p:nvPr/>
        </p:nvSpPr>
        <p:spPr>
          <a:xfrm>
            <a:off x="566928" y="4251960"/>
            <a:ext cx="502920" cy="457200"/>
          </a:xfrm>
          <a:prstGeom prst="lef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115568" y="4251960"/>
            <a:ext cx="10479024" cy="457200"/>
          </a:xfrm>
          <a:prstGeom prst="roundRect">
            <a:avLst>
              <a:gd name="adj" fmla="val 25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反馈：里程计 /odom、激光 /scan、坐标 /tf 回到导航层，形成闭环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5029200"/>
            <a:ext cx="11027664" cy="1234440"/>
          </a:xfrm>
          <a:prstGeom prst="roundRect">
            <a:avLst>
              <a:gd name="adj" fmla="val 8000"/>
            </a:avLst>
          </a:prstGeom>
          <a:solidFill>
            <a:srgbClr val="E1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77240" y="5074920"/>
            <a:ext cx="10607040" cy="11430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任务输入：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goal.py 自动发送目标，或在 RViz 中点选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离线准备：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脚本生成工厂场景，再由同一场景生成导航地图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3767328"/>
            <a:ext cx="3017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橙色 = 本组编写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ROS 通信关系与模块说明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94359" y="13167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DCE7F4"/>
          </a:solidFill>
          <a:ln w="19050">
            <a:solidFill>
              <a:srgbClr val="325B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94359" y="1371600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map_server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59" y="1700784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地图服务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08960" y="13167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DCE7F4"/>
          </a:solidFill>
          <a:ln w="19050">
            <a:solidFill>
              <a:srgbClr val="325B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108960" y="1371600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amcl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1700784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激光定位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23560" y="13167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FDEBD6"/>
          </a:solidFill>
          <a:ln w="19050">
            <a:solidFill>
              <a:srgbClr val="C96A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623560" y="1371600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goal.py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23560" y="1700784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任务下发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59" y="31455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FDEBD6"/>
          </a:solidFill>
          <a:ln w="19050">
            <a:solidFill>
              <a:srgbClr val="C96A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59" y="3200400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go1_locomotion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59" y="3529584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机器狗仿真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23560" y="31455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DCE7F4"/>
          </a:solidFill>
          <a:ln w="19050">
            <a:solidFill>
              <a:srgbClr val="325B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623560" y="3200400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Nav2 规划控制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23560" y="3529584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全局 + 局部规划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59" y="49743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FDEBD6"/>
          </a:solidFill>
          <a:ln w="19050">
            <a:solidFill>
              <a:srgbClr val="C96A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59" y="5029199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workshop_runtime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59" y="5358383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看门狗 / 急停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108960" y="49743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DCE7F4"/>
          </a:solidFill>
          <a:ln w="19050">
            <a:solidFill>
              <a:srgbClr val="325B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3108960" y="5029199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collision_monitor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08960" y="5358383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碰撞预判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23560" y="4974336"/>
            <a:ext cx="1920240" cy="749808"/>
          </a:xfrm>
          <a:prstGeom prst="roundRect">
            <a:avLst>
              <a:gd name="adj" fmla="val 8000"/>
            </a:avLst>
          </a:prstGeom>
          <a:solidFill>
            <a:srgbClr val="DCE7F4"/>
          </a:solidFill>
          <a:ln w="19050">
            <a:solidFill>
              <a:srgbClr val="325B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623560" y="5029199"/>
            <a:ext cx="192024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微软雅黑"/>
                <a:ea typeface="微软雅黑"/>
                <a:cs typeface="微软雅黑"/>
              </a:rPr>
              <a:t>velocity_smoother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3560" y="5358383"/>
            <a:ext cx="1920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速度平滑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514600" y="1691640"/>
            <a:ext cx="594360" cy="0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943100" y="1362456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/map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584573" y="2066544"/>
            <a:ext cx="1483614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503420" y="2185416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/tf 位姿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583680" y="2066544"/>
            <a:ext cx="0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647688" y="2313432"/>
            <a:ext cx="1005840" cy="58521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/navigate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_to_pose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514600" y="3520440"/>
            <a:ext cx="3108960" cy="0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749039" y="3191256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/odom  /scan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2069973" y="2066544"/>
            <a:ext cx="1483614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1531620" y="2350008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/scan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069973" y="3895344"/>
            <a:ext cx="1483614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903220" y="4105655"/>
            <a:ext cx="73152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/scan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583680" y="3895344"/>
            <a:ext cx="0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492240" y="4288536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/cmd_vel_nav</a:t>
            </a:r>
          </a:p>
        </p:txBody>
      </p:sp>
      <p:cxnSp>
        <p:nvCxnSpPr>
          <p:cNvPr id="59" name="Connector 58"/>
          <p:cNvCxnSpPr/>
          <p:nvPr/>
        </p:nvCxnSpPr>
        <p:spPr>
          <a:xfrm flipH="1">
            <a:off x="5029200" y="5349240"/>
            <a:ext cx="594360" cy="0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457700" y="4654296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/cmd_vel_smoothed</a:t>
            </a:r>
          </a:p>
        </p:txBody>
      </p:sp>
      <p:cxnSp>
        <p:nvCxnSpPr>
          <p:cNvPr id="61" name="Connector 60"/>
          <p:cNvCxnSpPr/>
          <p:nvPr/>
        </p:nvCxnSpPr>
        <p:spPr>
          <a:xfrm flipH="1">
            <a:off x="2514600" y="5349240"/>
            <a:ext cx="594360" cy="0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1943100" y="4654296"/>
            <a:ext cx="173736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/cmd_vel</a:t>
            </a:r>
          </a:p>
        </p:txBody>
      </p:sp>
      <p:cxnSp>
        <p:nvCxnSpPr>
          <p:cNvPr id="63" name="Connector 62"/>
          <p:cNvCxnSpPr/>
          <p:nvPr/>
        </p:nvCxnSpPr>
        <p:spPr>
          <a:xfrm flipV="1">
            <a:off x="1143000" y="3895344"/>
            <a:ext cx="0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411480" y="4288536"/>
            <a:ext cx="118872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/cmd_vel_safe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965960" y="3895344"/>
            <a:ext cx="0" cy="1078992"/>
          </a:xfrm>
          <a:prstGeom prst="line">
            <a:avLst/>
          </a:prstGeom>
          <a:ln w="22225">
            <a:solidFill>
              <a:srgbClr val="325B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1947672" y="4425696"/>
            <a:ext cx="73152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/odom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" y="5925312"/>
            <a:ext cx="7132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橙色框</a:t>
            </a: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：本组节点   </a:t>
            </a:r>
            <a:r>
              <a:rPr sz="11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蓝色框</a:t>
            </a:r>
            <a:r>
              <a:rPr sz="11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：Nav2 节点   箭头上为话题，省略了 /rosout 等辅助话题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001000" y="1691640"/>
            <a:ext cx="3593591" cy="457200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8183879" y="1828800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go1_locomotion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183879" y="2112264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执行速度指令，发布里程计和激光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83879" y="2450592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workshop_runtime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83879" y="2734056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超时自动停车、急停，最后一道安全关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83879" y="3072384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goal.py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83879" y="3355848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发送目标点，反馈是否到达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83879" y="3694176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map_server / amcl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83879" y="3977639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加载地图，用激光确定自身位置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83879" y="4315968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Nav2 规划控制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83879" y="4599431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算全局路线，实时生成避障速度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83879" y="4937759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velocity_smoother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83879" y="5221223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限制加速度，让速度变化平稳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183879" y="5559551"/>
            <a:ext cx="3273551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collision_monitor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83879" y="5843015"/>
            <a:ext cx="3273551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预判 1.2 s 内的碰撞并减速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核心实现：自己完成的部分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66928" y="1783080"/>
            <a:ext cx="6309360" cy="352044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795528" y="2011680"/>
            <a:ext cx="1463040" cy="457200"/>
          </a:xfrm>
          <a:prstGeom prst="roundRect">
            <a:avLst>
              <a:gd name="adj" fmla="val 25000"/>
            </a:avLst>
          </a:prstGeom>
          <a:solidFill>
            <a:srgbClr val="C9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本组完成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2697480"/>
            <a:ext cx="5760720" cy="2468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工厂场景与地图自动生成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机器人模型一致性验证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看门狗与急停节点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任务下发与进度反馈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启动守护节点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Nav2 参数调优与测试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14032" y="1783080"/>
            <a:ext cx="4480560" cy="352044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7342632" y="2011680"/>
            <a:ext cx="1463040" cy="45720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复用开源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88352" y="2697480"/>
            <a:ext cx="3931920" cy="2468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Go1 模型（MuJoCo Menagerie）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Go1 行走策略与运动节点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Nav2 导航栈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MuJoCo、ROS 2 Jazzy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486400"/>
            <a:ext cx="11027664" cy="777240"/>
          </a:xfrm>
          <a:prstGeom prst="roundRect">
            <a:avLst>
              <a:gd name="adj" fmla="val 8000"/>
            </a:avLst>
          </a:prstGeom>
          <a:solidFill>
            <a:srgbClr val="E1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77240" y="5486400"/>
            <a:ext cx="10607040" cy="7772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难点：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改造场景时不能动机器人。我们让同一策略在新旧模型里各走一遍，轨迹完全一致才算通过。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演示结果、问题与改进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66928" y="1097280"/>
            <a:ext cx="2343150" cy="137160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66928" y="1170432"/>
            <a:ext cx="234315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2 /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1920240"/>
            <a:ext cx="234315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完整运行均到达终点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92958" y="1097280"/>
            <a:ext cx="2343150" cy="137160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092958" y="1170432"/>
            <a:ext cx="234315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44 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92958" y="1920240"/>
            <a:ext cx="234315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最快用时，路线约 49.5 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18988" y="1097280"/>
            <a:ext cx="2343150" cy="137160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618988" y="1170432"/>
            <a:ext cx="234315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1.29 m/s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18988" y="1920240"/>
            <a:ext cx="234315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最高速度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45018" y="1097280"/>
            <a:ext cx="2343150" cy="137160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145018" y="1170432"/>
            <a:ext cx="2343150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45018" y="1920240"/>
            <a:ext cx="234315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摔倒次数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2743200"/>
            <a:ext cx="5422392" cy="352044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795528" y="2971800"/>
            <a:ext cx="1737360" cy="45720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遇到的问题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7" y="3657600"/>
            <a:ext cx="4873752" cy="2468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迷宫转弯太窄会卡住 → 通道放宽到 3 m</a:t>
            </a:r>
          </a:p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启动偶尔卡住 → 加启动守护节点</a:t>
            </a:r>
          </a:p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7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离障碍太近 → 加快代价地图刷新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2743200"/>
            <a:ext cx="5422392" cy="352044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00800" y="2971800"/>
            <a:ext cx="1463040" cy="457200"/>
          </a:xfrm>
          <a:prstGeom prst="roundRect">
            <a:avLst>
              <a:gd name="adj" fmla="val 25000"/>
            </a:avLst>
          </a:prstGeom>
          <a:solidFill>
            <a:srgbClr val="C9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后续改进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3657600"/>
            <a:ext cx="4873752" cy="2468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增加“遇障”状态反馈与停车演示</a:t>
            </a:r>
          </a:p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台阶区域（需地形感知策略）</a:t>
            </a:r>
          </a:p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700" b="1">
                <a:solidFill>
                  <a:srgbClr val="C96A1B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7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动态障碍：移动的叉车和行人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成员分工与开源资料来源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66928" y="1097280"/>
          <a:ext cx="5852160" cy="3401568"/>
        </p:xfrm>
        <a:graphic>
          <a:graphicData uri="http://schemas.openxmlformats.org/drawingml/2006/table">
            <a:tbl>
              <a:tblPr firstRow="0" bandRow="0"/>
              <a:tblGrid>
                <a:gridCol w="1600200"/>
                <a:gridCol w="1051560"/>
                <a:gridCol w="320040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角色</a:t>
                      </a:r>
                    </a:p>
                  </a:txBody>
                  <a:tcPr marL="73152" marR="73152" marT="27432" marB="27432" anchor="ctr">
                    <a:solidFill>
                      <a:srgbClr val="25558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成员</a:t>
                      </a:r>
                    </a:p>
                  </a:txBody>
                  <a:tcPr marL="73152" marR="73152" marT="27432" marB="27432" anchor="ctr">
                    <a:solidFill>
                      <a:srgbClr val="25558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负责内容</a:t>
                      </a:r>
                    </a:p>
                  </a:txBody>
                  <a:tcPr marL="73152" marR="73152" marT="27432" marB="27432" anchor="ctr">
                    <a:solidFill>
                      <a:srgbClr val="25558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 仿真与平台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[姓名]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工厂场景、启动配置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 动作与执行</a:t>
                      </a:r>
                    </a:p>
                  </a:txBody>
                  <a:tcPr marL="73152" marR="73152" marT="27432" marB="27432" anchor="ctr">
                    <a:solidFill>
                      <a:srgbClr val="F3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[姓名]</a:t>
                      </a:r>
                    </a:p>
                  </a:txBody>
                  <a:tcPr marL="73152" marR="73152" marT="27432" marB="27432" anchor="ctr">
                    <a:solidFill>
                      <a:srgbClr val="F3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运动节点、Nav2 调参</a:t>
                      </a:r>
                    </a:p>
                  </a:txBody>
                  <a:tcPr marL="73152" marR="73152" marT="27432" marB="27432" anchor="ctr">
                    <a:solidFill>
                      <a:srgbClr val="F3F7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 感知与交互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[姓名]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激光、代价地图、地图生成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 任务与记录</a:t>
                      </a:r>
                    </a:p>
                  </a:txBody>
                  <a:tcPr marL="73152" marR="73152" marT="27432" marB="27432" anchor="ctr">
                    <a:solidFill>
                      <a:srgbClr val="F3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[姓名]</a:t>
                      </a:r>
                    </a:p>
                  </a:txBody>
                  <a:tcPr marL="73152" marR="73152" marT="27432" marB="27432" anchor="ctr">
                    <a:solidFill>
                      <a:srgbClr val="F3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任务流程、看门狗与急停</a:t>
                      </a:r>
                    </a:p>
                  </a:txBody>
                  <a:tcPr marL="73152" marR="73152" marT="27432" marB="27432" anchor="ctr">
                    <a:solidFill>
                      <a:srgbClr val="F3F7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A3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 集成与测试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[姓名]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联调测试、视频与文档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66928" y="4553712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第一组：</a:t>
            </a:r>
            <a:r>
              <a:rPr sz="13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教晔廷（组长）、臧文韬、牛麒皓、张欣、苏奕婷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0" y="1691640"/>
            <a:ext cx="4919472" cy="2788920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 w="12700">
            <a:solidFill>
              <a:srgbClr val="C5D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6903720" y="1920240"/>
            <a:ext cx="1463040" cy="457200"/>
          </a:xfrm>
          <a:prstGeom prst="roundRect">
            <a:avLst>
              <a:gd name="adj" fmla="val 25000"/>
            </a:avLst>
          </a:prstGeom>
          <a:solidFill>
            <a:srgbClr val="255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开源来源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606040"/>
            <a:ext cx="4370832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Go1 模型：MuJoCo Menagerie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Go1 行走策略与运动节点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ROS 2 Jazzy、Nav2、MuJoCo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983480"/>
            <a:ext cx="11027664" cy="1280160"/>
          </a:xfrm>
          <a:prstGeom prst="roundRect">
            <a:avLst>
              <a:gd name="adj" fmla="val 8000"/>
            </a:avLst>
          </a:prstGeom>
          <a:solidFill>
            <a:srgbClr val="E1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77240" y="5029200"/>
            <a:ext cx="10607040" cy="11887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255580"/>
                </a:solidFill>
                <a:latin typeface="微软雅黑"/>
                <a:ea typeface="微软雅黑"/>
                <a:cs typeface="微软雅黑"/>
              </a:rPr>
              <a:t>启动演示：</a:t>
            </a:r>
            <a:r>
              <a:rPr sz="1600" b="0">
                <a:solidFill>
                  <a:srgbClr val="334155"/>
                </a:solidFill>
                <a:latin typeface="微软雅黑"/>
                <a:ea typeface="微软雅黑"/>
                <a:cs typeface="微软雅黑"/>
              </a:rPr>
              <a:t>./scripts/start_demo.sh（完整说明见 README）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30"/>
          <p:cNvSpPr>
            <a:spLocks noChangeArrowheads="1"/>
          </p:cNvSpPr>
          <p:nvPr/>
        </p:nvSpPr>
        <p:spPr bwMode="auto">
          <a:xfrm>
            <a:off x="934720" y="321945"/>
            <a:ext cx="9509760" cy="489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21917" tIns="60959" rIns="121917" bIns="6095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Calibri" panose="020F0502020204030204" pitchFamily="34" charset="0"/>
              </a:defRPr>
            </a:lvl9pPr>
          </a:lstStyle>
          <a:p>
            <a:pPr defTabSz="456565">
              <a:spcBef>
                <a:spcPct val="0"/>
              </a:spcBef>
              <a:buNone/>
            </a:pPr>
            <a:r>
              <a:rPr lang="en-US" altLang="zh-CN" sz="2400" dirty="0">
                <a:solidFill>
                  <a:srgbClr val="325B7F"/>
                </a:solidFill>
                <a:latin typeface="迷你简菱心" panose="02010609000101010101" pitchFamily="49" charset="-122"/>
                <a:ea typeface="迷你简菱心" panose="02010609000101010101" pitchFamily="49" charset="-122"/>
                <a:sym typeface="微软雅黑" panose="020B0503020204020204" pitchFamily="34" charset="-122"/>
              </a:rPr>
              <a:t>演示视频</a:t>
            </a:r>
          </a:p>
        </p:txBody>
      </p:sp>
      <p:grpSp>
        <p:nvGrpSpPr>
          <p:cNvPr id="9" name="组合 8"/>
          <p:cNvGrpSpPr/>
          <p:nvPr/>
        </p:nvGrpSpPr>
        <p:grpSpPr>
          <a:xfrm>
            <a:off x="451502" y="346319"/>
            <a:ext cx="467216" cy="468245"/>
            <a:chOff x="3437020" y="2074814"/>
            <a:chExt cx="863676" cy="865577"/>
          </a:xfrm>
        </p:grpSpPr>
        <p:sp>
          <p:nvSpPr>
            <p:cNvPr id="10" name="椭圆 19"/>
            <p:cNvSpPr>
              <a:spLocks noChangeArrowheads="1"/>
            </p:cNvSpPr>
            <p:nvPr/>
          </p:nvSpPr>
          <p:spPr bwMode="auto">
            <a:xfrm>
              <a:off x="3437020" y="2074814"/>
              <a:ext cx="863676" cy="865577"/>
            </a:xfrm>
            <a:prstGeom prst="ellipse">
              <a:avLst/>
            </a:prstGeom>
            <a:solidFill>
              <a:srgbClr val="255580"/>
            </a:solidFill>
            <a:ln w="38100">
              <a:solidFill>
                <a:schemeClr val="bg1">
                  <a:lumMod val="75000"/>
                </a:schemeClr>
              </a:solidFill>
              <a:miter lim="800000"/>
            </a:ln>
          </p:spPr>
          <p:txBody>
            <a:bodyPr anchor="ctr"/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1pPr>
              <a:lvl2pPr marL="742950" indent="-285750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Calibri" panose="020F0502020204030204" pitchFamily="34" charset="0"/>
                </a:defRPr>
              </a:lvl9pPr>
            </a:lstStyle>
            <a:p>
              <a:pPr algn="ctr" defTabSz="456565">
                <a:spcBef>
                  <a:spcPct val="0"/>
                </a:spcBef>
                <a:buNone/>
              </a:pPr>
              <a:endParaRPr lang="zh-CN" altLang="zh-CN" sz="2400">
                <a:solidFill>
                  <a:srgbClr val="FFFFFF"/>
                </a:solidFill>
                <a:sym typeface="微软雅黑" panose="020B0503020204020204" pitchFamily="34" charset="-122"/>
              </a:endParaRPr>
            </a:p>
          </p:txBody>
        </p:sp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1" cstate="print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96360" y="2243692"/>
              <a:ext cx="553608" cy="567096"/>
            </a:xfrm>
            <a:prstGeom prst="rect">
              <a:avLst/>
            </a:prstGeom>
          </p:spPr>
        </p:pic>
      </p:grpSp>
      <p:pic>
        <p:nvPicPr>
          <p:cNvPr id="2" name="图片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  <p:pic>
        <p:nvPicPr>
          <p:cNvPr id="21" name="demo_small.mp4">
            <a:hlinkClick r:id="" action="ppaction://media"/>
          </p:cNvPr>
          <p:cNvPicPr>
            <a:picLocks noChangeAspect="1"/>
          </p:cNvPicPr>
          <p:nvPr>
            <a:videoFile r:link="rId17"/>
            <p:extLst>
              <p:ext uri="{DAA4B4D4-6D71-4841-9C94-3DE7FCFB9230}">
                <p14:media xmlns:p14="http://schemas.microsoft.com/office/powerpoint/2010/main" r:embed="rId16"/>
              </p:ext>
            </p:extLst>
          </p:nvPr>
        </p:nvPicPr>
        <p:blipFill>
          <a:blip r:embed="rId18"/>
          <a:stretch>
            <a:fillRect/>
          </a:stretch>
        </p:blipFill>
        <p:spPr>
          <a:xfrm>
            <a:off x="1432407" y="1143000"/>
            <a:ext cx="8595360" cy="483489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32407" y="6051042"/>
            <a:ext cx="85953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微软雅黑"/>
                <a:ea typeface="微软雅黑"/>
                <a:cs typeface="微软雅黑"/>
              </a:rPr>
              <a:t>起点出发 → 主通道绕过托盘和锥桶 → 迷宫连续掉头 → 到达终点（1 分 54 秒，点击播放）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95" name="PA_文本框 24" descr="e7d195523061f1c07f83f732a5522b9b3ebe164d7250580aEF66DE1A1ABCD1416532D3433F8BE1C4DD26AF8C595CA3B8FBFFDC471B28313D41FC0B29AEB12651AEAC05881CD0265D4CB30185DEC2EB287A3DCBE2E99F13933C1E803DDF331C0150FEA0675F290631D1EDC3C927CD0AA74DD8F417A5B73495B4C9A5AA47CFEB588A1D25B820586C98"/>
          <p:cNvSpPr txBox="1"/>
          <p:nvPr>
            <p:custDataLst>
              <p:tags r:id="rId1"/>
            </p:custDataLst>
          </p:nvPr>
        </p:nvSpPr>
        <p:spPr>
          <a:xfrm>
            <a:off x="182002" y="2469555"/>
            <a:ext cx="11827994" cy="1494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lnSpc>
                <a:spcPct val="130000"/>
              </a:lnSpc>
              <a:defRPr sz="5400">
                <a:solidFill>
                  <a:srgbClr val="255580"/>
                </a:solidFill>
                <a:latin typeface="迷你简菱心" panose="02010609000101010101" pitchFamily="49" charset="-122"/>
                <a:ea typeface="迷你简菱心" panose="02010609000101010101" pitchFamily="49" charset="-122"/>
              </a:defRPr>
            </a:lvl1pPr>
          </a:lstStyle>
          <a:p>
            <a:r>
              <a:rPr lang="zh-CN" altLang="en-US" sz="7200" dirty="0">
                <a:solidFill>
                  <a:srgbClr val="3B5F80"/>
                </a:solidFill>
              </a:rPr>
              <a:t>谢谢大家，欢迎提问</a:t>
            </a:r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078" y="256366"/>
            <a:ext cx="1312291" cy="1305858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PA" val="v3.2.0"/>
</p:tagLst>
</file>

<file path=ppt/tags/tag2.xml><?xml version="1.0" encoding="utf-8"?>
<p:tagLst xmlns:p="http://schemas.openxmlformats.org/presentationml/2006/main">
  <p:tag name="PA" val="v3.2.0"/>
</p:tagLst>
</file>

<file path=ppt/tags/tag3.xml><?xml version="1.0" encoding="utf-8"?>
<p:tagLst xmlns:p="http://schemas.openxmlformats.org/presentationml/2006/main">
  <p:tag name="PA" val="v3.2.0"/>
</p:tagLst>
</file>

<file path=ppt/tags/tag4.xml><?xml version="1.0" encoding="utf-8"?>
<p:tagLst xmlns:p="http://schemas.openxmlformats.org/presentationml/2006/main">
  <p:tag name="PA" val="v3.2.0"/>
</p:tagLst>
</file>

<file path=ppt/tags/tag5.xml><?xml version="1.0" encoding="utf-8"?>
<p:tagLst xmlns:p="http://schemas.openxmlformats.org/presentationml/2006/main">
  <p:tag name="PA" val="v3.2.0"/>
</p:tagLst>
</file>

<file path=ppt/tags/tag6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7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8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9.xml><?xml version="1.0" encoding="utf-8"?>
<p:tagLst xmlns:p="http://schemas.openxmlformats.org/presentationml/2006/main">
  <p:tag name="KSO_WM_DIAGRAM_VIRTUALLY_FRAME" val="{&quot;height&quot;:310.55,&quot;left&quot;:94.25000000000009,&quot;top&quot;:92.85,&quot;width&quot;:691.4161015095161}"/>
</p:tagLst>
</file>

<file path=ppt/tags/tag10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11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12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13.xml><?xml version="1.0" encoding="utf-8"?>
<p:tagLst xmlns:p="http://schemas.openxmlformats.org/presentationml/2006/main">
  <p:tag name="KSO_WM_DIAGRAM_VIRTUALLY_FRAME" val="{&quot;height&quot;:310.55,&quot;left&quot;:94.25000000000009,&quot;top&quot;:92.85,&quot;width&quot;:691.4161015095161}"/>
</p:tagLst>
</file>

<file path=ppt/tags/tag14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15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16.xml><?xml version="1.0" encoding="utf-8"?>
<p:tagLst xmlns:p="http://schemas.openxmlformats.org/presentationml/2006/main">
  <p:tag name="KSO_WM_DIAGRAM_VIRTUALLY_FRAME" val="{&quot;height&quot;:310.55,&quot;left&quot;:83.25000000000011,&quot;top&quot;:92.85,&quot;width&quot;:805.297559055118}"/>
</p:tagLst>
</file>

<file path=ppt/tags/tag17.xml><?xml version="1.0" encoding="utf-8"?>
<p:tagLst xmlns:p="http://schemas.openxmlformats.org/presentationml/2006/main">
  <p:tag name="KSO_WM_DIAGRAM_VIRTUALLY_FRAME" val="{&quot;height&quot;:310.55,&quot;left&quot;:94.25000000000009,&quot;top&quot;:92.85,&quot;width&quot;:691.4161015095161}"/>
</p:tagLst>
</file>

<file path=ppt/tags/tag23.xml><?xml version="1.0" encoding="utf-8"?>
<p:tagLst xmlns:p="http://schemas.openxmlformats.org/presentationml/2006/main">
  <p:tag name="PA" val="v3.2.0"/>
</p:tagLst>
</file>

<file path=ppt/theme/theme1.xml><?xml version="1.0" encoding="utf-8"?>
<a:theme xmlns:a="http://schemas.openxmlformats.org/drawingml/2006/main" name="A000120140530A99PPBG">
  <a:themeElements>
    <a:clrScheme name="自定义 95">
      <a:dk1>
        <a:sysClr val="windowText" lastClr="000000"/>
      </a:dk1>
      <a:lt1>
        <a:sysClr val="window" lastClr="FFFFFF"/>
      </a:lt1>
      <a:dk2>
        <a:srgbClr val="3F3F3F"/>
      </a:dk2>
      <a:lt2>
        <a:srgbClr val="E3DED1"/>
      </a:lt2>
      <a:accent1>
        <a:srgbClr val="071F65"/>
      </a:accent1>
      <a:accent2>
        <a:srgbClr val="7F7F7F"/>
      </a:accent2>
      <a:accent3>
        <a:srgbClr val="414456"/>
      </a:accent3>
      <a:accent4>
        <a:srgbClr val="444455"/>
      </a:accent4>
      <a:accent5>
        <a:srgbClr val="444455"/>
      </a:accent5>
      <a:accent6>
        <a:srgbClr val="7F7F7F"/>
      </a:accent6>
      <a:hlink>
        <a:srgbClr val="002060"/>
      </a:hlink>
      <a:folHlink>
        <a:srgbClr val="B26B0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20204" pitchFamily="34" charset="0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A000120140530A99PPBG">
  <a:themeElements>
    <a:clrScheme name="自定义 95">
      <a:dk1>
        <a:sysClr val="windowText" lastClr="000000"/>
      </a:dk1>
      <a:lt1>
        <a:sysClr val="window" lastClr="FFFFFF"/>
      </a:lt1>
      <a:dk2>
        <a:srgbClr val="3F3F3F"/>
      </a:dk2>
      <a:lt2>
        <a:srgbClr val="E3DED1"/>
      </a:lt2>
      <a:accent1>
        <a:srgbClr val="071F65"/>
      </a:accent1>
      <a:accent2>
        <a:srgbClr val="7F7F7F"/>
      </a:accent2>
      <a:accent3>
        <a:srgbClr val="414456"/>
      </a:accent3>
      <a:accent4>
        <a:srgbClr val="444455"/>
      </a:accent4>
      <a:accent5>
        <a:srgbClr val="444455"/>
      </a:accent5>
      <a:accent6>
        <a:srgbClr val="7F7F7F"/>
      </a:accent6>
      <a:hlink>
        <a:srgbClr val="002060"/>
      </a:hlink>
      <a:folHlink>
        <a:srgbClr val="B26B0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20204" pitchFamily="34" charset="0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A000120140530A99PPBG">
  <a:themeElements>
    <a:clrScheme name="自定义 95">
      <a:dk1>
        <a:sysClr val="windowText" lastClr="000000"/>
      </a:dk1>
      <a:lt1>
        <a:sysClr val="window" lastClr="FFFFFF"/>
      </a:lt1>
      <a:dk2>
        <a:srgbClr val="3F3F3F"/>
      </a:dk2>
      <a:lt2>
        <a:srgbClr val="E3DED1"/>
      </a:lt2>
      <a:accent1>
        <a:srgbClr val="071F65"/>
      </a:accent1>
      <a:accent2>
        <a:srgbClr val="7F7F7F"/>
      </a:accent2>
      <a:accent3>
        <a:srgbClr val="414456"/>
      </a:accent3>
      <a:accent4>
        <a:srgbClr val="444455"/>
      </a:accent4>
      <a:accent5>
        <a:srgbClr val="444455"/>
      </a:accent5>
      <a:accent6>
        <a:srgbClr val="7F7F7F"/>
      </a:accent6>
      <a:hlink>
        <a:srgbClr val="002060"/>
      </a:hlink>
      <a:folHlink>
        <a:srgbClr val="B26B0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20204" pitchFamily="34" charset="0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3_A000120140530A99PPBG">
  <a:themeElements>
    <a:clrScheme name="自定义 95">
      <a:dk1>
        <a:sysClr val="windowText" lastClr="000000"/>
      </a:dk1>
      <a:lt1>
        <a:sysClr val="window" lastClr="FFFFFF"/>
      </a:lt1>
      <a:dk2>
        <a:srgbClr val="3F3F3F"/>
      </a:dk2>
      <a:lt2>
        <a:srgbClr val="E3DED1"/>
      </a:lt2>
      <a:accent1>
        <a:srgbClr val="071F65"/>
      </a:accent1>
      <a:accent2>
        <a:srgbClr val="7F7F7F"/>
      </a:accent2>
      <a:accent3>
        <a:srgbClr val="414456"/>
      </a:accent3>
      <a:accent4>
        <a:srgbClr val="444455"/>
      </a:accent4>
      <a:accent5>
        <a:srgbClr val="444455"/>
      </a:accent5>
      <a:accent6>
        <a:srgbClr val="7F7F7F"/>
      </a:accent6>
      <a:hlink>
        <a:srgbClr val="002060"/>
      </a:hlink>
      <a:folHlink>
        <a:srgbClr val="B26B0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20204" pitchFamily="34" charset="0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4_A000120140530A99PPBG">
  <a:themeElements>
    <a:clrScheme name="自定义 95">
      <a:dk1>
        <a:sysClr val="windowText" lastClr="000000"/>
      </a:dk1>
      <a:lt1>
        <a:sysClr val="window" lastClr="FFFFFF"/>
      </a:lt1>
      <a:dk2>
        <a:srgbClr val="3F3F3F"/>
      </a:dk2>
      <a:lt2>
        <a:srgbClr val="E3DED1"/>
      </a:lt2>
      <a:accent1>
        <a:srgbClr val="071F65"/>
      </a:accent1>
      <a:accent2>
        <a:srgbClr val="7F7F7F"/>
      </a:accent2>
      <a:accent3>
        <a:srgbClr val="414456"/>
      </a:accent3>
      <a:accent4>
        <a:srgbClr val="444455"/>
      </a:accent4>
      <a:accent5>
        <a:srgbClr val="444455"/>
      </a:accent5>
      <a:accent6>
        <a:srgbClr val="7F7F7F"/>
      </a:accent6>
      <a:hlink>
        <a:srgbClr val="002060"/>
      </a:hlink>
      <a:folHlink>
        <a:srgbClr val="B26B0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lnSpc>
            <a:spcPct val="130000"/>
          </a:lnSpc>
          <a:defRPr sz="1400" dirty="0" smtClean="0">
            <a:latin typeface="Arial" panose="020B0604020202020204" pitchFamily="34" charset="0"/>
            <a:ea typeface="微软雅黑" panose="020B0503020204020204" pitchFamily="34" charset="-122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3755</Words>
  <Application>WPS 演示</Application>
  <PresentationFormat>宽屏</PresentationFormat>
  <Paragraphs>433</Paragraphs>
  <Slides>30</Slides>
  <Notes>25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5</vt:i4>
      </vt:variant>
      <vt:variant>
        <vt:lpstr>幻灯片标题</vt:lpstr>
      </vt:variant>
      <vt:variant>
        <vt:i4>30</vt:i4>
      </vt:variant>
    </vt:vector>
  </HeadingPairs>
  <TitlesOfParts>
    <vt:vector size="55" baseType="lpstr">
      <vt:lpstr>Arial</vt:lpstr>
      <vt:lpstr>宋体</vt:lpstr>
      <vt:lpstr>Wingdings</vt:lpstr>
      <vt:lpstr>微软雅黑</vt:lpstr>
      <vt:lpstr>Arial Black</vt:lpstr>
      <vt:lpstr>Wingdings 2</vt:lpstr>
      <vt:lpstr>幼圆</vt:lpstr>
      <vt:lpstr>Arial</vt:lpstr>
      <vt:lpstr>迷你简菱心</vt:lpstr>
      <vt:lpstr>Tw Cen MT</vt:lpstr>
      <vt:lpstr>Calibri</vt:lpstr>
      <vt:lpstr>Arial Unicode MS</vt:lpstr>
      <vt:lpstr>等线</vt:lpstr>
      <vt:lpstr>迷你简菱心</vt:lpstr>
      <vt:lpstr>Segoe Print</vt:lpstr>
      <vt:lpstr>Noto Sans SC</vt:lpstr>
      <vt:lpstr>方正姚体</vt:lpstr>
      <vt:lpstr>Calibri</vt:lpstr>
      <vt:lpstr>黑体</vt:lpstr>
      <vt:lpstr>Swiss911 UCm BT</vt:lpstr>
      <vt:lpstr>A000120140530A99PPBG</vt:lpstr>
      <vt:lpstr>1_A000120140530A99PPBG</vt:lpstr>
      <vt:lpstr>2_A000120140530A99PPBG</vt:lpstr>
      <vt:lpstr>3_A000120140530A99PPBG</vt:lpstr>
      <vt:lpstr>4_A000120140530A99PPBG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Anzichen</dc:creator>
  <cp:lastModifiedBy>1</cp:lastModifiedBy>
  <cp:revision>54</cp:revision>
  <dcterms:created xsi:type="dcterms:W3CDTF">2019-08-14T01:23:00Z</dcterms:created>
  <dcterms:modified xsi:type="dcterms:W3CDTF">2026-04-20T05:05:08Z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140E9D58D5F1484AA16DFEE731E2F7A6_13</vt:lpwstr>
  </property>
</Properties>
</file>